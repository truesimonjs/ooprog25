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495" r:id="rId3"/>
    <p:sldId id="505" r:id="rId4"/>
    <p:sldId id="568" r:id="rId5"/>
    <p:sldId id="567" r:id="rId6"/>
    <p:sldId id="413" r:id="rId7"/>
    <p:sldId id="572" r:id="rId8"/>
    <p:sldId id="570" r:id="rId9"/>
    <p:sldId id="571" r:id="rId10"/>
    <p:sldId id="573" r:id="rId11"/>
    <p:sldId id="574" r:id="rId12"/>
    <p:sldId id="575" r:id="rId13"/>
    <p:sldId id="576" r:id="rId14"/>
    <p:sldId id="569" r:id="rId15"/>
    <p:sldId id="578" r:id="rId16"/>
    <p:sldId id="577" r:id="rId17"/>
    <p:sldId id="579" r:id="rId18"/>
    <p:sldId id="580" r:id="rId19"/>
    <p:sldId id="581" r:id="rId20"/>
    <p:sldId id="582" r:id="rId21"/>
    <p:sldId id="583" r:id="rId22"/>
    <p:sldId id="584" r:id="rId23"/>
    <p:sldId id="585" r:id="rId24"/>
    <p:sldId id="586" r:id="rId25"/>
    <p:sldId id="592" r:id="rId26"/>
    <p:sldId id="587" r:id="rId27"/>
    <p:sldId id="588" r:id="rId28"/>
    <p:sldId id="589" r:id="rId29"/>
    <p:sldId id="590" r:id="rId30"/>
    <p:sldId id="591" r:id="rId31"/>
    <p:sldId id="593" r:id="rId32"/>
    <p:sldId id="594" r:id="rId33"/>
    <p:sldId id="595" r:id="rId34"/>
    <p:sldId id="596" r:id="rId35"/>
    <p:sldId id="597" r:id="rId36"/>
    <p:sldId id="598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8" r:id="rId45"/>
    <p:sldId id="606" r:id="rId46"/>
    <p:sldId id="607" r:id="rId47"/>
    <p:sldId id="609" r:id="rId48"/>
    <p:sldId id="610" r:id="rId49"/>
    <p:sldId id="611" r:id="rId50"/>
    <p:sldId id="612" r:id="rId51"/>
    <p:sldId id="613" r:id="rId52"/>
    <p:sldId id="614" r:id="rId53"/>
    <p:sldId id="615" r:id="rId54"/>
    <p:sldId id="616" r:id="rId55"/>
    <p:sldId id="617" r:id="rId56"/>
    <p:sldId id="618" r:id="rId57"/>
    <p:sldId id="623" r:id="rId58"/>
    <p:sldId id="619" r:id="rId59"/>
    <p:sldId id="620" r:id="rId60"/>
    <p:sldId id="621" r:id="rId61"/>
    <p:sldId id="624" r:id="rId62"/>
    <p:sldId id="625" r:id="rId63"/>
    <p:sldId id="626" r:id="rId64"/>
    <p:sldId id="627" r:id="rId65"/>
    <p:sldId id="628" r:id="rId66"/>
    <p:sldId id="629" r:id="rId6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 Storgård Laursen" initials="PSL" lastIdx="0" clrIdx="0">
    <p:extLst>
      <p:ext uri="{19B8F6BF-5375-455C-9EA6-DF929625EA0E}">
        <p15:presenceInfo xmlns:p15="http://schemas.microsoft.com/office/powerpoint/2012/main" userId="S-1-5-21-1598380859-2660986602-128722333-282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0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2C8C85-51F0-491E-9774-3900AFEF0FD7}" styleName="Lyst layout 2 - Markering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yst layou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yst layout 2 - Markering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05-04-2026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6074" y="785005"/>
            <a:ext cx="9144000" cy="4659832"/>
          </a:xfrm>
        </p:spPr>
        <p:txBody>
          <a:bodyPr>
            <a:normAutofit/>
          </a:bodyPr>
          <a:lstStyle/>
          <a:p>
            <a:r>
              <a:rPr lang="da-DK" sz="9600" b="1" dirty="0"/>
              <a:t>Databaser</a:t>
            </a:r>
            <a:br>
              <a:rPr lang="da-DK" sz="9600" b="1" dirty="0"/>
            </a:br>
            <a:br>
              <a:rPr lang="da-DK" sz="9600" dirty="0"/>
            </a:br>
            <a:r>
              <a:rPr lang="da-DK" dirty="0"/>
              <a:t>SQL - Supplerende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SQL JOIN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9214185" cy="4351338"/>
          </a:xfrm>
        </p:spPr>
        <p:txBody>
          <a:bodyPr/>
          <a:lstStyle/>
          <a:p>
            <a:pPr lvl="0"/>
            <a:r>
              <a:rPr lang="da-DK" sz="3200" dirty="0"/>
              <a:t>JOIN giver mulighed for queries der spænder over flere tabeller</a:t>
            </a:r>
          </a:p>
          <a:p>
            <a:pPr lvl="0"/>
            <a:r>
              <a:rPr lang="da-DK" sz="3200" dirty="0"/>
              <a:t>En ”rå” JOIN af to tabeller giver en ”supertabel” med alle kolonner fra de to tabeller, og alle kombinationer af rækker fra de to tabeller</a:t>
            </a:r>
          </a:p>
        </p:txBody>
      </p:sp>
    </p:spTree>
    <p:extLst>
      <p:ext uri="{BB962C8B-B14F-4D97-AF65-F5344CB8AC3E}">
        <p14:creationId xmlns:p14="http://schemas.microsoft.com/office/powerpoint/2010/main" val="165048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73729"/>
              </p:ext>
            </p:extLst>
          </p:nvPr>
        </p:nvGraphicFramePr>
        <p:xfrm>
          <a:off x="914399" y="719669"/>
          <a:ext cx="2989848" cy="1188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9661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331151"/>
              </p:ext>
            </p:extLst>
          </p:nvPr>
        </p:nvGraphicFramePr>
        <p:xfrm>
          <a:off x="1412707" y="3428780"/>
          <a:ext cx="1993232" cy="19812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9661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801004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RowB3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68205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RowB4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sp>
        <p:nvSpPr>
          <p:cNvPr id="2" name="Tekstfelt 1"/>
          <p:cNvSpPr txBox="1"/>
          <p:nvPr/>
        </p:nvSpPr>
        <p:spPr>
          <a:xfrm>
            <a:off x="1722275" y="2253086"/>
            <a:ext cx="2079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 dirty="0"/>
              <a:t>JOIN </a:t>
            </a:r>
            <a:r>
              <a:rPr lang="da-DK" sz="2400" dirty="0"/>
              <a:t>(rå)</a:t>
            </a:r>
          </a:p>
        </p:txBody>
      </p:sp>
      <p:sp>
        <p:nvSpPr>
          <p:cNvPr id="5" name="Tekstfelt 4"/>
          <p:cNvSpPr txBox="1"/>
          <p:nvPr/>
        </p:nvSpPr>
        <p:spPr>
          <a:xfrm>
            <a:off x="4884043" y="2253086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 dirty="0"/>
              <a:t>=</a:t>
            </a:r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293752"/>
              </p:ext>
            </p:extLst>
          </p:nvPr>
        </p:nvGraphicFramePr>
        <p:xfrm>
          <a:off x="6354678" y="1122727"/>
          <a:ext cx="4762500" cy="35661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53957116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185874950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RowB3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100807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RowB4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365546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555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901699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RowB3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95735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RowB4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937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38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SQL JOIN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9465733" cy="4351338"/>
          </a:xfrm>
        </p:spPr>
        <p:txBody>
          <a:bodyPr/>
          <a:lstStyle/>
          <a:p>
            <a:pPr lvl="0"/>
            <a:r>
              <a:rPr lang="da-DK" sz="3200" dirty="0"/>
              <a:t>En JOIN vil dog også have en betingelse som udvælger de ”meningsfulde” kombinationer af rækker</a:t>
            </a:r>
          </a:p>
          <a:p>
            <a:pPr lvl="0"/>
            <a:r>
              <a:rPr lang="da-DK" sz="3200" dirty="0"/>
              <a:t>Typisk betingelse er et match mellem primærnøgle fra den ene tabel, og tilsvarende fremmednøgle fra den anden tabel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378164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/>
          </p:nvPr>
        </p:nvGraphicFramePr>
        <p:xfrm>
          <a:off x="914399" y="719669"/>
          <a:ext cx="2989848" cy="1188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9661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graphicFrame>
        <p:nvGraphicFramePr>
          <p:cNvPr id="3" name="Tabel 2"/>
          <p:cNvGraphicFramePr>
            <a:graphicFrameLocks noGrp="1"/>
          </p:cNvGraphicFramePr>
          <p:nvPr>
            <p:extLst/>
          </p:nvPr>
        </p:nvGraphicFramePr>
        <p:xfrm>
          <a:off x="1412707" y="3428780"/>
          <a:ext cx="1993232" cy="19812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9661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801004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RowB3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68205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RowB4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sp>
        <p:nvSpPr>
          <p:cNvPr id="2" name="Tekstfelt 1"/>
          <p:cNvSpPr txBox="1"/>
          <p:nvPr/>
        </p:nvSpPr>
        <p:spPr>
          <a:xfrm>
            <a:off x="1722276" y="2253086"/>
            <a:ext cx="13740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 dirty="0"/>
              <a:t>JOIN</a:t>
            </a:r>
          </a:p>
        </p:txBody>
      </p:sp>
      <p:sp>
        <p:nvSpPr>
          <p:cNvPr id="5" name="Tekstfelt 4"/>
          <p:cNvSpPr txBox="1"/>
          <p:nvPr/>
        </p:nvSpPr>
        <p:spPr>
          <a:xfrm>
            <a:off x="4884043" y="2253086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 dirty="0"/>
              <a:t>=</a:t>
            </a:r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082268"/>
              </p:ext>
            </p:extLst>
          </p:nvPr>
        </p:nvGraphicFramePr>
        <p:xfrm>
          <a:off x="6404813" y="1677984"/>
          <a:ext cx="4762500" cy="1981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53957116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185874950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RowB3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100807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RowB4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365546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901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0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A2C256E9-9E07-47D7-88F2-4931E852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76" y="885301"/>
            <a:ext cx="3281837" cy="1857899"/>
          </a:xfrm>
          <a:prstGeom prst="rect">
            <a:avLst/>
          </a:prstGeo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D099EDBF-8492-4178-9DF5-9C5CB58B6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616" y="885300"/>
            <a:ext cx="3953972" cy="2086499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4BF0D238-C5E6-4DBC-8D35-89112FF5A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676" y="3602075"/>
            <a:ext cx="3299061" cy="2154489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F87F7708-3CE9-4A76-A23C-E3884409B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615" y="3602075"/>
            <a:ext cx="4921315" cy="28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93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r>
              <a:rPr lang="da-DK" dirty="0"/>
              <a:t> (aka </a:t>
            </a:r>
            <a:r>
              <a:rPr lang="da-DK" b="1" dirty="0"/>
              <a:t>INNER JOIN</a:t>
            </a:r>
            <a:r>
              <a:rPr lang="da-DK" dirty="0"/>
              <a:t>)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7281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KundeNavn og OrdreId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Alle kombinationer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sv-SE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sv-SE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Kunde k</a:t>
            </a:r>
            <a:r>
              <a:rPr lang="sv-SE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sv-SE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Ordre o</a:t>
            </a:r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2E69B726-E34C-4105-8166-52636868C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771" y="1690688"/>
            <a:ext cx="1774895" cy="331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1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r>
              <a:rPr lang="da-DK" dirty="0"/>
              <a:t> (aka </a:t>
            </a:r>
            <a:r>
              <a:rPr lang="da-DK" b="1" dirty="0"/>
              <a:t>INNER JOIN</a:t>
            </a:r>
            <a:r>
              <a:rPr lang="da-DK" dirty="0"/>
              <a:t>)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72813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KundeNavn og OrdreId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"Hvad er navnet på Kunden der har afgivet Ordren?"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Kunde k</a:t>
            </a:r>
          </a:p>
          <a:p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Ordre o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KundeId</a:t>
            </a:r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49505BB8-C42A-42F2-BC87-D54F2DDEE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423" y="2542590"/>
            <a:ext cx="1857443" cy="151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r>
              <a:rPr lang="da-DK" dirty="0"/>
              <a:t> (aka </a:t>
            </a:r>
            <a:r>
              <a:rPr lang="da-DK" b="1" dirty="0"/>
              <a:t>INNER JOIN</a:t>
            </a:r>
            <a:r>
              <a:rPr lang="da-DK" dirty="0"/>
              <a:t>)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062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Antal Ordrer for hvert KundeNavn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NB: Kunder med 0 Ordrer medtages ikke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AntalOrdrer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Kunde k</a:t>
            </a:r>
          </a:p>
          <a:p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Ordre o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KundeId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9F7D1115-5B7E-4B53-AF41-976036EC2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635" y="2860235"/>
            <a:ext cx="3803938" cy="158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1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r>
              <a:rPr lang="da-DK" dirty="0"/>
              <a:t> (aka </a:t>
            </a:r>
            <a:r>
              <a:rPr lang="da-DK" b="1" dirty="0"/>
              <a:t>INNER JOIN</a:t>
            </a:r>
            <a:r>
              <a:rPr lang="da-DK" dirty="0"/>
              <a:t>)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5D384FD5-C05C-4501-B6BD-6D44D65F9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402" y="2354837"/>
            <a:ext cx="4463731" cy="303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44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LEFT JOIN</a:t>
            </a:r>
            <a:r>
              <a:rPr lang="da-DK" dirty="0"/>
              <a:t> (aka </a:t>
            </a:r>
            <a:r>
              <a:rPr lang="da-DK" b="1" dirty="0"/>
              <a:t>LEFT OUTER JOIN</a:t>
            </a:r>
            <a:r>
              <a:rPr lang="da-DK" dirty="0"/>
              <a:t>)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72813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KundeNavn og OrdreId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"Hvad er navnet på Kunden der har afgivet Ordren?"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Kunde k</a:t>
            </a:r>
          </a:p>
          <a:p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 JOIN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Ordre o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KundeId</a:t>
            </a:r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C38792A1-BA09-4D77-A30F-BB49DAB04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590" y="2306781"/>
            <a:ext cx="2007210" cy="1658851"/>
          </a:xfrm>
          <a:prstGeom prst="rect">
            <a:avLst/>
          </a:prstGeom>
        </p:spPr>
      </p:pic>
      <p:sp>
        <p:nvSpPr>
          <p:cNvPr id="5" name="Billedforklaring: streg uden kant 4">
            <a:extLst>
              <a:ext uri="{FF2B5EF4-FFF2-40B4-BE49-F238E27FC236}">
                <a16:creationId xmlns:a16="http://schemas.microsoft.com/office/drawing/2014/main" id="{E10DD6C2-5E4B-4DE3-A3F9-4F6A066532B6}"/>
              </a:ext>
            </a:extLst>
          </p:cNvPr>
          <p:cNvSpPr/>
          <p:nvPr/>
        </p:nvSpPr>
        <p:spPr>
          <a:xfrm>
            <a:off x="8001000" y="4648201"/>
            <a:ext cx="1507066" cy="905933"/>
          </a:xfrm>
          <a:prstGeom prst="callout1">
            <a:avLst>
              <a:gd name="adj1" fmla="val 993"/>
              <a:gd name="adj2" fmla="val 53465"/>
              <a:gd name="adj3" fmla="val -88435"/>
              <a:gd name="adj4" fmla="val 1526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/>
              <a:t>Alle rækker fra venstre tabel medtages</a:t>
            </a:r>
          </a:p>
        </p:txBody>
      </p:sp>
      <p:sp>
        <p:nvSpPr>
          <p:cNvPr id="7" name="Billedforklaring: streg uden kant 6">
            <a:extLst>
              <a:ext uri="{FF2B5EF4-FFF2-40B4-BE49-F238E27FC236}">
                <a16:creationId xmlns:a16="http://schemas.microsoft.com/office/drawing/2014/main" id="{B541C8D1-9A11-40F0-AA4F-09DEFA896836}"/>
              </a:ext>
            </a:extLst>
          </p:cNvPr>
          <p:cNvSpPr/>
          <p:nvPr/>
        </p:nvSpPr>
        <p:spPr>
          <a:xfrm>
            <a:off x="10210800" y="4648201"/>
            <a:ext cx="1507066" cy="905933"/>
          </a:xfrm>
          <a:prstGeom prst="callout1">
            <a:avLst>
              <a:gd name="adj1" fmla="val 993"/>
              <a:gd name="adj2" fmla="val 53465"/>
              <a:gd name="adj3" fmla="val -91239"/>
              <a:gd name="adj4" fmla="val 487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/>
              <a:t>Alle matchende rækker fra højre tabel medtages</a:t>
            </a:r>
          </a:p>
        </p:txBody>
      </p:sp>
    </p:spTree>
    <p:extLst>
      <p:ext uri="{BB962C8B-B14F-4D97-AF65-F5344CB8AC3E}">
        <p14:creationId xmlns:p14="http://schemas.microsoft.com/office/powerpoint/2010/main" val="393239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LEFT JOIN</a:t>
            </a:r>
            <a:r>
              <a:rPr lang="da-DK" dirty="0"/>
              <a:t> (aka </a:t>
            </a:r>
            <a:r>
              <a:rPr lang="da-DK" b="1" dirty="0"/>
              <a:t>LEFT OUTER JOIN</a:t>
            </a:r>
            <a:r>
              <a:rPr lang="da-DK" dirty="0"/>
              <a:t>)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062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Antal Ordrer for hvert KundeNavn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NB: Kunder med 0 Ordrer medtages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AntalOrdrer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Kunde k</a:t>
            </a:r>
          </a:p>
          <a:p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 JOIN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Ordre o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KundeId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1796FCF0-FA1E-408A-B161-24D24843F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215" y="2581157"/>
            <a:ext cx="2689852" cy="1628550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6C0A690D-4EBC-469E-9EB0-9ED993522A03}"/>
              </a:ext>
            </a:extLst>
          </p:cNvPr>
          <p:cNvSpPr/>
          <p:nvPr/>
        </p:nvSpPr>
        <p:spPr>
          <a:xfrm>
            <a:off x="8398933" y="3335867"/>
            <a:ext cx="2870200" cy="465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2898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LEFT JOIN</a:t>
            </a:r>
            <a:r>
              <a:rPr lang="da-DK" dirty="0"/>
              <a:t> (aka </a:t>
            </a:r>
            <a:r>
              <a:rPr lang="da-DK" b="1" dirty="0"/>
              <a:t>LEFT OUTER JOIN</a:t>
            </a:r>
            <a:r>
              <a:rPr lang="da-DK" dirty="0"/>
              <a:t>)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6EDB906D-B448-46AC-8671-18911AE41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692" y="2275276"/>
            <a:ext cx="4102308" cy="278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5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817BB8-4A57-4D0B-AD24-14AF39E7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RIGHT JOIN</a:t>
            </a:r>
            <a:r>
              <a:rPr lang="da-DK" dirty="0"/>
              <a:t> (aka </a:t>
            </a:r>
            <a:r>
              <a:rPr lang="da-DK" b="1" dirty="0"/>
              <a:t>RIGHT OUTER JOIN</a:t>
            </a:r>
            <a:r>
              <a:rPr lang="da-DK" dirty="0"/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BC096E3-2FAD-41DC-8A97-29A0B1E79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554132" cy="4351338"/>
          </a:xfrm>
        </p:spPr>
        <p:txBody>
          <a:bodyPr/>
          <a:lstStyle/>
          <a:p>
            <a:r>
              <a:rPr lang="da-DK" dirty="0"/>
              <a:t>Fuldstændig som </a:t>
            </a:r>
            <a:r>
              <a:rPr lang="da-DK" b="1" dirty="0"/>
              <a:t>LEFT JOIN</a:t>
            </a:r>
            <a:r>
              <a:rPr lang="da-DK" dirty="0"/>
              <a:t>, blot med rollerne byttet om mellem de to tabeller</a:t>
            </a:r>
          </a:p>
          <a:p>
            <a:r>
              <a:rPr lang="da-DK" b="1" dirty="0">
                <a:solidFill>
                  <a:srgbClr val="FF0000"/>
                </a:solidFill>
              </a:rPr>
              <a:t>NB</a:t>
            </a:r>
            <a:r>
              <a:rPr lang="da-DK" dirty="0"/>
              <a:t>: I eksemplet vil der ikke være forskel på </a:t>
            </a:r>
            <a:r>
              <a:rPr lang="da-DK" b="1" dirty="0"/>
              <a:t>JOIN</a:t>
            </a:r>
            <a:r>
              <a:rPr lang="da-DK" dirty="0"/>
              <a:t> og </a:t>
            </a:r>
            <a:r>
              <a:rPr lang="da-DK" b="1" dirty="0"/>
              <a:t>RIGHT JOIN</a:t>
            </a:r>
            <a:r>
              <a:rPr lang="da-DK" dirty="0"/>
              <a:t>, da en Ordre altid vil blive matchet med en Kunde (men en Kunde kan godt have afgivet 0 Ordrer)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7575C4BB-23E1-4A00-AEAD-F3C3F02D2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292" y="2164149"/>
            <a:ext cx="4254708" cy="291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4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817BB8-4A57-4D0B-AD24-14AF39E7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FULL JOIN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BC096E3-2FAD-41DC-8A97-29A0B1E79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2799" cy="4351338"/>
          </a:xfrm>
        </p:spPr>
        <p:txBody>
          <a:bodyPr/>
          <a:lstStyle/>
          <a:p>
            <a:r>
              <a:rPr lang="da-DK" dirty="0"/>
              <a:t>Foreningsmængde mellem </a:t>
            </a:r>
            <a:r>
              <a:rPr lang="da-DK" b="1" dirty="0"/>
              <a:t>LEFT JOIN </a:t>
            </a:r>
            <a:r>
              <a:rPr lang="da-DK" dirty="0"/>
              <a:t>og </a:t>
            </a:r>
            <a:r>
              <a:rPr lang="da-DK" b="1" dirty="0"/>
              <a:t>RIGHT JOIN</a:t>
            </a:r>
          </a:p>
          <a:p>
            <a:r>
              <a:rPr lang="da-DK" dirty="0"/>
              <a:t>Kan typisk være relevant i forbindelse med </a:t>
            </a:r>
            <a:r>
              <a:rPr lang="da-DK" i="1" dirty="0"/>
              <a:t>mange-til-mange</a:t>
            </a:r>
            <a:r>
              <a:rPr lang="da-DK" dirty="0"/>
              <a:t> relationer og tilhørende ”mellemtabeller”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59520D25-5DE7-440B-9EC7-C02156DA0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359" y="2046676"/>
            <a:ext cx="3716515" cy="25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7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719EE055-9445-4FEA-9F45-4850598A0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75" y="814858"/>
            <a:ext cx="2973791" cy="2150469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28BE5B2-7A26-4538-8213-6ABBEFB69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75" y="3429000"/>
            <a:ext cx="2973791" cy="2379033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08532ACC-3EEF-49A7-978C-437CC5C22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710" y="1533259"/>
            <a:ext cx="5458220" cy="246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6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0621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s 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EksamensResultat er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StuderendeId</a:t>
            </a:r>
            <a:endParaRPr lang="da-DK" sz="1400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2363622-1205-4A24-A4EF-07D725D9C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5072" y="1493413"/>
            <a:ext cx="2436328" cy="31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4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062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Beskrivelse</a:t>
            </a: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s 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EksamensResultat er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StuderendeId</a:t>
            </a:r>
          </a:p>
          <a:p>
            <a:r>
              <a:rPr lang="fi-FI" sz="14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 e </a:t>
            </a:r>
            <a:r>
              <a:rPr lang="fi-FI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EksamenId</a:t>
            </a:r>
            <a:endParaRPr lang="da-DK" sz="1400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9D97F93F-9E10-4B8F-8D06-53E9CE03E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913" y="2306781"/>
            <a:ext cx="2818620" cy="191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2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062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Beskrivelse</a:t>
            </a: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s 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EksamensResultat er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StuderendeId</a:t>
            </a:r>
          </a:p>
          <a:p>
            <a:r>
              <a:rPr lang="fi-FI" sz="14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 JOIN 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 e </a:t>
            </a:r>
            <a:r>
              <a:rPr lang="fi-FI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EksamenId</a:t>
            </a:r>
            <a:endParaRPr lang="da-DK" sz="1400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42020FD9-BBAA-4C63-9C18-FFA6934E1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149" y="2229637"/>
            <a:ext cx="2728451" cy="235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2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062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Beskrivelse</a:t>
            </a: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s 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EksamensResultat er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StuderendeId</a:t>
            </a:r>
          </a:p>
          <a:p>
            <a:r>
              <a:rPr lang="fi-FI" sz="14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 JOIN 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 e </a:t>
            </a:r>
            <a:r>
              <a:rPr lang="fi-FI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EksamenId</a:t>
            </a:r>
            <a:endParaRPr lang="da-DK" sz="1400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6054724D-479B-42E6-997E-197F3D153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271" y="2298314"/>
            <a:ext cx="2710796" cy="23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062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Beskrivelse</a:t>
            </a: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s 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EksamensResultat er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StuderendeId</a:t>
            </a:r>
          </a:p>
          <a:p>
            <a:r>
              <a:rPr lang="fi-FI" sz="14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FULL JOIN 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 e </a:t>
            </a:r>
            <a:r>
              <a:rPr lang="fi-FI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EksamenId</a:t>
            </a:r>
            <a:endParaRPr lang="da-DK" sz="1400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7CB364B1-3BC0-4839-B83B-40A8A1AF0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44" y="2306781"/>
            <a:ext cx="2676523" cy="280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9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0621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nn-NO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nn-NO" sz="140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nn-NO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nn-NO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</a:t>
            </a:r>
            <a:r>
              <a:rPr lang="nn-NO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nn-NO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nn-NO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nn-NO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n-NO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nn-NO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AntalEksaminer</a:t>
            </a:r>
            <a:r>
              <a:rPr lang="nn-NO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nn-NO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da-DK" sz="14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Gennemsnit</a:t>
            </a: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s 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EksamensResultat er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StuderendeId</a:t>
            </a:r>
          </a:p>
          <a:p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 e </a:t>
            </a:r>
            <a:r>
              <a:rPr lang="fi-FI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EksamenId</a:t>
            </a: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Navn</a:t>
            </a:r>
            <a:endParaRPr lang="da-DK" sz="1400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B79AFA8F-AE9B-41E4-83E3-6BFA563DB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433" y="2502870"/>
            <a:ext cx="3047233" cy="157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5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JOIN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0621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Beskrivelse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da-DK" sz="14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AntalStuderende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da-DK" sz="14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Gennemsnit</a:t>
            </a: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s 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EksamensResultat er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StuderendeId</a:t>
            </a:r>
          </a:p>
          <a:p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 e </a:t>
            </a:r>
            <a:r>
              <a:rPr lang="fi-FI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fi-FI" sz="14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EksamenId</a:t>
            </a: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Beskrivelse</a:t>
            </a:r>
            <a:endParaRPr lang="da-DK" sz="1400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46A92EB-714E-496F-8415-AE9A261D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653" y="2559851"/>
            <a:ext cx="3154147" cy="160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33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C2BB5-CEB9-4603-A4F7-E198B548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Views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8E22D4A-2D82-46A5-B3A7-43DC3E0C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84533" cy="4351338"/>
          </a:xfrm>
        </p:spPr>
        <p:txBody>
          <a:bodyPr/>
          <a:lstStyle/>
          <a:p>
            <a:r>
              <a:rPr lang="da-DK" dirty="0"/>
              <a:t>En query som den forrige er jo kompleks…</a:t>
            </a:r>
          </a:p>
          <a:p>
            <a:r>
              <a:rPr lang="da-DK" dirty="0"/>
              <a:t>…hvad nu hvis den skal udføres mange gange?</a:t>
            </a:r>
          </a:p>
          <a:p>
            <a:r>
              <a:rPr lang="da-DK" dirty="0"/>
              <a:t>Vi har jo ikke metoder i databaser, meeeeeen…. vi har </a:t>
            </a:r>
            <a:r>
              <a:rPr lang="da-DK" b="1" dirty="0"/>
              <a:t>views</a:t>
            </a:r>
            <a:r>
              <a:rPr lang="da-DK" dirty="0"/>
              <a:t>!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2F242C34-0043-4180-8D87-B34E4535F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659" y="1859144"/>
            <a:ext cx="2415749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8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C2BB5-CEB9-4603-A4F7-E198B548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Views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8E22D4A-2D82-46A5-B3A7-43DC3E0C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51333" cy="4351338"/>
          </a:xfrm>
        </p:spPr>
        <p:txBody>
          <a:bodyPr/>
          <a:lstStyle/>
          <a:p>
            <a:r>
              <a:rPr lang="da-DK" dirty="0"/>
              <a:t>Et </a:t>
            </a:r>
            <a:r>
              <a:rPr lang="da-DK" b="1" dirty="0"/>
              <a:t>View</a:t>
            </a:r>
            <a:r>
              <a:rPr lang="da-DK" dirty="0"/>
              <a:t> er en query som vi har givet et navn, og efterfølgende gemt i databasen</a:t>
            </a:r>
          </a:p>
          <a:p>
            <a:r>
              <a:rPr lang="da-DK" b="1" dirty="0"/>
              <a:t>CREATE VIEW </a:t>
            </a:r>
            <a:r>
              <a:rPr lang="da-DK" i="1" dirty="0"/>
              <a:t>viewNavn</a:t>
            </a:r>
            <a:r>
              <a:rPr lang="da-DK" dirty="0"/>
              <a:t> </a:t>
            </a:r>
            <a:r>
              <a:rPr lang="da-DK" b="1" dirty="0"/>
              <a:t>AS</a:t>
            </a:r>
            <a:r>
              <a:rPr lang="da-DK" dirty="0"/>
              <a:t> </a:t>
            </a:r>
            <a:r>
              <a:rPr lang="da-DK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227657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View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417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Definition af View</a:t>
            </a:r>
            <a:endParaRPr lang="da-DK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GodkendteEksaminer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EksamensResultat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Karakter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65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07B48675-F4AF-463B-AB02-BF2944E3E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014" y="3835265"/>
            <a:ext cx="3350559" cy="1061437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24ECCCB0-157B-4E96-B00F-F5AA7A38E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014" y="1283999"/>
            <a:ext cx="3350559" cy="17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2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View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4177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Anvendelse af View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GodkendteEksaminer</a:t>
            </a:r>
          </a:p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Anvendelse af View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GodkendteEksaminer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Karakter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</a:t>
            </a:r>
          </a:p>
          <a:p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B15646A7-EB03-474A-8896-95C4AA667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359" y="2274430"/>
            <a:ext cx="3350559" cy="1061437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FCBA9D5D-D6FD-4374-B991-65349BF91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359" y="4173200"/>
            <a:ext cx="3407805" cy="75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6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View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8495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Definition af View</a:t>
            </a:r>
          </a:p>
          <a:p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EksamensInfo </a:t>
            </a:r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da-DK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Beskrivelse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da-DK" sz="1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AntalStuderende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da-DK" sz="1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Karakter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Gennemsnit</a:t>
            </a:r>
          </a:p>
          <a:p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s </a:t>
            </a:r>
          </a:p>
          <a:p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EksamensResultat er </a:t>
            </a:r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StuderendeId</a:t>
            </a:r>
          </a:p>
          <a:p>
            <a:r>
              <a:rPr lang="fi-FI" sz="16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fi-FI" sz="16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i-FI" sz="16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fi-FI" sz="16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 e </a:t>
            </a:r>
            <a:r>
              <a:rPr lang="fi-FI" sz="16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fi-FI" sz="16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fi-FI" sz="16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6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 </a:t>
            </a:r>
            <a:r>
              <a:rPr lang="fi-FI" sz="16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i-FI" sz="16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er</a:t>
            </a:r>
            <a:r>
              <a:rPr lang="fi-FI" sz="16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i-FI" sz="16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EksamenId</a:t>
            </a:r>
          </a:p>
          <a:p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</a:t>
            </a:r>
            <a:r>
              <a:rPr lang="da-DK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Beskrivelse</a:t>
            </a:r>
            <a:endParaRPr lang="da-DK" sz="16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7F11F0D4-3627-46CB-B9FE-B3AF5613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446" y="2022019"/>
            <a:ext cx="2631630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7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38F76-CDFC-4F1E-AE7A-7CE7FF9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View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1FA338D-C763-49A0-B2F5-722B0515C396}"/>
              </a:ext>
            </a:extLst>
          </p:cNvPr>
          <p:cNvSpPr txBox="1"/>
          <p:nvPr/>
        </p:nvSpPr>
        <p:spPr>
          <a:xfrm>
            <a:off x="838200" y="2306781"/>
            <a:ext cx="68664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Anvendelse af View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EksamensInfo</a:t>
            </a:r>
          </a:p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Anvendelse af View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Beskrivelse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Gennemsnit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EksamensInfo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Gennemsnit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NULL)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Gennemsnit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65</a:t>
            </a:r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837CC3EB-5291-48D0-A924-A6A17F7E3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446" y="2022019"/>
            <a:ext cx="2631630" cy="1325562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4E30C11E-89EE-4897-9460-3F91F1BA2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445" y="4017822"/>
            <a:ext cx="1939487" cy="111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6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C2BB5-CEB9-4603-A4F7-E198B548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Views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8E22D4A-2D82-46A5-B3A7-43DC3E0C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05333" cy="4667250"/>
          </a:xfrm>
        </p:spPr>
        <p:txBody>
          <a:bodyPr/>
          <a:lstStyle/>
          <a:p>
            <a:r>
              <a:rPr lang="da-DK" dirty="0"/>
              <a:t>Views kan også slettes igen: </a:t>
            </a:r>
            <a:r>
              <a:rPr lang="da-DK" b="1" dirty="0"/>
              <a:t>DROP VIEW </a:t>
            </a:r>
            <a:r>
              <a:rPr lang="da-DK" i="1" dirty="0"/>
              <a:t>viewNavn</a:t>
            </a:r>
            <a:r>
              <a:rPr lang="da-DK" dirty="0"/>
              <a:t> </a:t>
            </a:r>
          </a:p>
          <a:p>
            <a:r>
              <a:rPr lang="da-DK" dirty="0"/>
              <a:t>Alternativt: </a:t>
            </a:r>
            <a:r>
              <a:rPr lang="da-DK" b="1" dirty="0"/>
              <a:t>DROP VIEW IF EXISTS </a:t>
            </a:r>
            <a:r>
              <a:rPr lang="da-DK" i="1" dirty="0"/>
              <a:t>viewNavn</a:t>
            </a:r>
            <a:r>
              <a:rPr lang="da-DK" dirty="0"/>
              <a:t> </a:t>
            </a:r>
          </a:p>
          <a:p>
            <a:r>
              <a:rPr lang="da-DK" dirty="0"/>
              <a:t>Generelt kan man tænke på views som ”logiske tabeller”, der kan supplere fysiske tabeller</a:t>
            </a:r>
          </a:p>
          <a:p>
            <a:r>
              <a:rPr lang="da-DK" dirty="0"/>
              <a:t>Views optager ikke ekstra plads! Data dannes </a:t>
            </a:r>
            <a:r>
              <a:rPr lang="da-DK" u="sng" dirty="0"/>
              <a:t>dynamisk</a:t>
            </a:r>
            <a:r>
              <a:rPr lang="da-DK" dirty="0"/>
              <a:t> når viewet bliver anvendt</a:t>
            </a:r>
          </a:p>
          <a:p>
            <a:r>
              <a:rPr lang="da-DK" dirty="0"/>
              <a:t>Nyttige hvis komplekse queries ofte skal genbruges</a:t>
            </a:r>
          </a:p>
        </p:txBody>
      </p:sp>
    </p:spTree>
    <p:extLst>
      <p:ext uri="{BB962C8B-B14F-4D97-AF65-F5344CB8AC3E}">
        <p14:creationId xmlns:p14="http://schemas.microsoft.com/office/powerpoint/2010/main" val="210387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C2BB5-CEB9-4603-A4F7-E198B548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Views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8E22D4A-2D82-46A5-B3A7-43DC3E0C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84533" cy="4667250"/>
          </a:xfrm>
        </p:spPr>
        <p:txBody>
          <a:bodyPr/>
          <a:lstStyle/>
          <a:p>
            <a:r>
              <a:rPr lang="da-DK" b="1" dirty="0"/>
              <a:t>NB!</a:t>
            </a:r>
            <a:r>
              <a:rPr lang="da-DK" dirty="0"/>
              <a:t> Lidt mere komplekst ift. om man også kan </a:t>
            </a:r>
            <a:r>
              <a:rPr lang="da-DK" u="sng" dirty="0"/>
              <a:t>ændre</a:t>
            </a:r>
            <a:r>
              <a:rPr lang="da-DK" dirty="0"/>
              <a:t> data via et view...</a:t>
            </a:r>
          </a:p>
          <a:p>
            <a:pPr lvl="1"/>
            <a:r>
              <a:rPr lang="da-DK" dirty="0"/>
              <a:t>Må kun trække data fra én tabel</a:t>
            </a:r>
          </a:p>
          <a:p>
            <a:pPr lvl="1"/>
            <a:r>
              <a:rPr lang="da-DK" dirty="0"/>
              <a:t>Ingen aggregering (</a:t>
            </a:r>
            <a:r>
              <a:rPr lang="da-DK" b="1" dirty="0"/>
              <a:t>SUM</a:t>
            </a:r>
            <a:r>
              <a:rPr lang="da-DK" dirty="0"/>
              <a:t>, </a:t>
            </a:r>
            <a:r>
              <a:rPr lang="da-DK" b="1" dirty="0"/>
              <a:t>COUNT</a:t>
            </a:r>
            <a:r>
              <a:rPr lang="da-DK" dirty="0"/>
              <a:t>, …)</a:t>
            </a:r>
          </a:p>
          <a:p>
            <a:pPr lvl="1"/>
            <a:r>
              <a:rPr lang="da-DK" dirty="0"/>
              <a:t>Ingen </a:t>
            </a:r>
            <a:r>
              <a:rPr lang="da-DK" b="1" dirty="0"/>
              <a:t>GROUP BY</a:t>
            </a:r>
          </a:p>
          <a:p>
            <a:pPr lvl="1"/>
            <a:r>
              <a:rPr lang="da-DK" dirty="0"/>
              <a:t>Alle </a:t>
            </a:r>
            <a:r>
              <a:rPr lang="da-DK" b="1" dirty="0"/>
              <a:t>NOT NULL </a:t>
            </a:r>
            <a:r>
              <a:rPr lang="da-DK" dirty="0"/>
              <a:t>kolonner skal være inkluderet</a:t>
            </a:r>
          </a:p>
          <a:p>
            <a:pPr lvl="1"/>
            <a:r>
              <a:rPr lang="da-DK" dirty="0"/>
              <a:t>…og nogle mere subtile begrænsninger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9104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98C5F-66CB-400C-8098-C0B5F06D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Auto-generering af primærnøgle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0D8C41D-E30E-425D-B044-EF4776C2F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Vores primærnøgle er meget ofte af typen </a:t>
            </a:r>
            <a:r>
              <a:rPr lang="da-DK" b="1" dirty="0"/>
              <a:t>int</a:t>
            </a:r>
            <a:r>
              <a:rPr lang="da-DK" dirty="0"/>
              <a:t>, og hedder ofte </a:t>
            </a:r>
            <a:r>
              <a:rPr lang="da-DK" b="1" dirty="0"/>
              <a:t>Id</a:t>
            </a:r>
            <a:r>
              <a:rPr lang="da-DK" dirty="0"/>
              <a:t>.</a:t>
            </a:r>
          </a:p>
          <a:p>
            <a:r>
              <a:rPr lang="da-DK" dirty="0"/>
              <a:t>Givet en tabel </a:t>
            </a:r>
            <a:r>
              <a:rPr lang="da-DK" b="1" dirty="0"/>
              <a:t>Studerende</a:t>
            </a:r>
            <a:r>
              <a:rPr lang="da-DK" dirty="0"/>
              <a:t> med kolonner </a:t>
            </a:r>
            <a:r>
              <a:rPr lang="da-DK" b="1" dirty="0"/>
              <a:t>Id</a:t>
            </a:r>
            <a:r>
              <a:rPr lang="da-DK" dirty="0"/>
              <a:t> og </a:t>
            </a:r>
            <a:r>
              <a:rPr lang="da-DK" b="1" dirty="0"/>
              <a:t>Navn</a:t>
            </a:r>
            <a:r>
              <a:rPr lang="da-DK" dirty="0"/>
              <a:t>, vil vi ofte indsætte data således: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6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'Hans'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3162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98C5F-66CB-400C-8098-C0B5F06D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Auto-generering af primærnøgle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0D8C41D-E30E-425D-B044-EF4776C2F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958750" cy="4351338"/>
          </a:xfrm>
        </p:spPr>
        <p:txBody>
          <a:bodyPr/>
          <a:lstStyle/>
          <a:p>
            <a:r>
              <a:rPr lang="da-DK" dirty="0"/>
              <a:t>Her kunne det være bekvemt hvis databasen selv fandt det næste </a:t>
            </a:r>
            <a:r>
              <a:rPr lang="da-DK" b="1" dirty="0"/>
              <a:t>Id</a:t>
            </a:r>
            <a:r>
              <a:rPr lang="da-DK" dirty="0"/>
              <a:t> for en ny </a:t>
            </a:r>
            <a:r>
              <a:rPr lang="da-DK" b="1" dirty="0"/>
              <a:t>Studerende</a:t>
            </a:r>
            <a:r>
              <a:rPr lang="da-DK" dirty="0"/>
              <a:t>.</a:t>
            </a:r>
          </a:p>
          <a:p>
            <a:r>
              <a:rPr lang="da-DK" dirty="0"/>
              <a:t>Dette kan gøres ved at tilføje lidt ekstra information til definitionen af </a:t>
            </a:r>
            <a:r>
              <a:rPr lang="da-DK" b="1" dirty="0"/>
              <a:t>Id</a:t>
            </a:r>
            <a:r>
              <a:rPr lang="da-DK" dirty="0"/>
              <a:t> i </a:t>
            </a:r>
            <a:r>
              <a:rPr lang="da-DK" b="1" dirty="0"/>
              <a:t>Studerende</a:t>
            </a:r>
            <a:r>
              <a:rPr lang="da-DK" dirty="0"/>
              <a:t>.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F59352AF-1E36-4056-9409-A2C5E5FE0D87}"/>
              </a:ext>
            </a:extLst>
          </p:cNvPr>
          <p:cNvSpPr txBox="1"/>
          <p:nvPr/>
        </p:nvSpPr>
        <p:spPr>
          <a:xfrm>
            <a:off x="6395052" y="2028007"/>
            <a:ext cx="58788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Før</a:t>
            </a:r>
            <a:endParaRPr lang="da-DK" sz="1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Studerende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[Id]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[Navn]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endParaRPr lang="da-DK" sz="14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sz="14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sz="14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Efter</a:t>
            </a:r>
            <a:endParaRPr lang="da-DK" sz="14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STUD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[Id]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IDENTITY</a:t>
            </a:r>
            <a:r>
              <a:rPr lang="en-US" sz="14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[Navn]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da-DK" sz="1400" dirty="0">
              <a:highlight>
                <a:srgbClr val="FFFFFF"/>
              </a:highlight>
            </a:endParaRPr>
          </a:p>
          <a:p>
            <a:endParaRPr lang="da-DK" sz="1400" dirty="0"/>
          </a:p>
        </p:txBody>
      </p:sp>
    </p:spTree>
    <p:extLst>
      <p:ext uri="{BB962C8B-B14F-4D97-AF65-F5344CB8AC3E}">
        <p14:creationId xmlns:p14="http://schemas.microsoft.com/office/powerpoint/2010/main" val="324193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98C5F-66CB-400C-8098-C0B5F06D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Auto-generering af primærnøgle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0D8C41D-E30E-425D-B044-EF4776C2F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3999" cy="4351338"/>
          </a:xfrm>
        </p:spPr>
        <p:txBody>
          <a:bodyPr/>
          <a:lstStyle/>
          <a:p>
            <a:r>
              <a:rPr lang="da-DK" dirty="0"/>
              <a:t>Nu bliver </a:t>
            </a:r>
            <a:r>
              <a:rPr lang="da-DK" b="1" dirty="0"/>
              <a:t>INSERT INTO</a:t>
            </a:r>
            <a:r>
              <a:rPr lang="da-DK" dirty="0"/>
              <a:t> simplere: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F59352AF-1E36-4056-9409-A2C5E5FE0D87}"/>
              </a:ext>
            </a:extLst>
          </p:cNvPr>
          <p:cNvSpPr txBox="1"/>
          <p:nvPr/>
        </p:nvSpPr>
        <p:spPr>
          <a:xfrm>
            <a:off x="6395052" y="2028007"/>
            <a:ext cx="587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'Anna'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Studerende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'Bent'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da-DK" sz="1400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837DBEB9-98BF-46AC-A993-6769A07FA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118" y="3776237"/>
            <a:ext cx="3832681" cy="145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4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98C5F-66CB-400C-8098-C0B5F06D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Auto-generering af primærnøgle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0D8C41D-E30E-425D-B044-EF4776C2F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NB</a:t>
            </a:r>
            <a:r>
              <a:rPr lang="da-DK" dirty="0"/>
              <a:t>: Specifikation af auto-generering af primærnøgle har lidt forskellig syntaks i forskellige DBMS</a:t>
            </a:r>
          </a:p>
          <a:p>
            <a:r>
              <a:rPr lang="da-DK" dirty="0"/>
              <a:t>Faktisk er SQL standarden: </a:t>
            </a:r>
            <a:r>
              <a:rPr lang="da-DK" b="1" dirty="0"/>
              <a:t>GENERATED ALWAYS AS IDENTITY</a:t>
            </a:r>
            <a:r>
              <a:rPr lang="da-DK" dirty="0"/>
              <a:t>, men det understøtter </a:t>
            </a:r>
            <a:r>
              <a:rPr lang="da-DK" i="1" dirty="0"/>
              <a:t>MS SQL Server </a:t>
            </a:r>
            <a:r>
              <a:rPr lang="da-DK" dirty="0"/>
              <a:t>ikke…</a:t>
            </a:r>
          </a:p>
          <a:p>
            <a:r>
              <a:rPr lang="da-DK" dirty="0"/>
              <a:t>Brug  </a:t>
            </a:r>
            <a:r>
              <a:rPr lang="da-DK" b="1" dirty="0"/>
              <a:t>IDENTITY(1,1)</a:t>
            </a:r>
            <a:r>
              <a:rPr lang="da-DK" dirty="0"/>
              <a:t>  </a:t>
            </a:r>
            <a:r>
              <a:rPr lang="da-DK" dirty="0">
                <a:sym typeface="Wingdings" panose="05000000000000000000" pitchFamily="2" charset="2"/>
              </a:rPr>
              <a:t>.</a:t>
            </a:r>
          </a:p>
          <a:p>
            <a:r>
              <a:rPr lang="da-DK" b="1" dirty="0">
                <a:sym typeface="Wingdings" panose="05000000000000000000" pitchFamily="2" charset="2"/>
              </a:rPr>
              <a:t>MEN</a:t>
            </a:r>
            <a:r>
              <a:rPr lang="da-DK" dirty="0">
                <a:sym typeface="Wingdings" panose="05000000000000000000" pitchFamily="2" charset="2"/>
              </a:rPr>
              <a:t> se også næste slide!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0298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98C5F-66CB-400C-8098-C0B5F06D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Auto-generering af primærnøgle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0D8C41D-E30E-425D-B044-EF4776C2F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Er det så et </a:t>
            </a:r>
            <a:r>
              <a:rPr lang="da-DK" u="sng" dirty="0"/>
              <a:t>godt</a:t>
            </a:r>
            <a:r>
              <a:rPr lang="da-DK" dirty="0"/>
              <a:t> valg at lade databasen selv vælge primærnøgler, eller skal den app der bruger databasen vælge primærnøgler?</a:t>
            </a:r>
          </a:p>
          <a:p>
            <a:r>
              <a:rPr lang="da-DK" dirty="0"/>
              <a:t>Der er for og imod… Hvis databasen er central, og mange apps skriver data til databasen, kan det sikre unikhed at lade databasen vælge.</a:t>
            </a:r>
          </a:p>
          <a:p>
            <a:r>
              <a:rPr lang="da-DK" dirty="0"/>
              <a:t>Omvendt kan det være en lille smule gnidret at få returneret den valgte primærnøgle til appen (mest når man bruger </a:t>
            </a:r>
            <a:r>
              <a:rPr lang="da-DK" b="1" dirty="0"/>
              <a:t>ADO.Net</a:t>
            </a:r>
            <a:r>
              <a:rPr lang="da-DK" dirty="0"/>
              <a:t>).</a:t>
            </a:r>
          </a:p>
          <a:p>
            <a:r>
              <a:rPr lang="da-DK" dirty="0"/>
              <a:t>I projektet kan man selv vælge strategi (database vælger, eller app vælger)</a:t>
            </a:r>
          </a:p>
        </p:txBody>
      </p:sp>
    </p:spTree>
    <p:extLst>
      <p:ext uri="{BB962C8B-B14F-4D97-AF65-F5344CB8AC3E}">
        <p14:creationId xmlns:p14="http://schemas.microsoft.com/office/powerpoint/2010/main" val="48954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FBC83-F965-4B06-86E0-0B5F2E71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156DBF6-5E75-46E3-BE82-9A91411D8C82}"/>
              </a:ext>
            </a:extLst>
          </p:cNvPr>
          <p:cNvSpPr/>
          <p:nvPr/>
        </p:nvSpPr>
        <p:spPr>
          <a:xfrm>
            <a:off x="1744133" y="2341033"/>
            <a:ext cx="2650066" cy="2175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Annes konto</a:t>
            </a:r>
          </a:p>
          <a:p>
            <a:endParaRPr lang="da-DK" sz="2800" dirty="0"/>
          </a:p>
          <a:p>
            <a:r>
              <a:rPr lang="da-DK" sz="2800" dirty="0"/>
              <a:t>3000 kr.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79ED6D9-1DFC-4C62-8752-FA107843A94D}"/>
              </a:ext>
            </a:extLst>
          </p:cNvPr>
          <p:cNvSpPr/>
          <p:nvPr/>
        </p:nvSpPr>
        <p:spPr>
          <a:xfrm>
            <a:off x="8305799" y="2341032"/>
            <a:ext cx="2650066" cy="21759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Bents konto</a:t>
            </a:r>
          </a:p>
          <a:p>
            <a:endParaRPr lang="da-DK" sz="2800" dirty="0"/>
          </a:p>
          <a:p>
            <a:r>
              <a:rPr lang="da-DK" sz="2800" dirty="0"/>
              <a:t>1000 kr.</a:t>
            </a:r>
          </a:p>
        </p:txBody>
      </p:sp>
    </p:spTree>
    <p:extLst>
      <p:ext uri="{BB962C8B-B14F-4D97-AF65-F5344CB8AC3E}">
        <p14:creationId xmlns:p14="http://schemas.microsoft.com/office/powerpoint/2010/main" val="32514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FBC83-F965-4B06-86E0-0B5F2E71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156DBF6-5E75-46E3-BE82-9A91411D8C82}"/>
              </a:ext>
            </a:extLst>
          </p:cNvPr>
          <p:cNvSpPr/>
          <p:nvPr/>
        </p:nvSpPr>
        <p:spPr>
          <a:xfrm>
            <a:off x="1744133" y="2341033"/>
            <a:ext cx="2650066" cy="2175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Annes konto</a:t>
            </a:r>
          </a:p>
          <a:p>
            <a:endParaRPr lang="da-DK" sz="2800" dirty="0"/>
          </a:p>
          <a:p>
            <a:r>
              <a:rPr lang="da-DK" sz="2800" dirty="0"/>
              <a:t>3000 kr.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79ED6D9-1DFC-4C62-8752-FA107843A94D}"/>
              </a:ext>
            </a:extLst>
          </p:cNvPr>
          <p:cNvSpPr/>
          <p:nvPr/>
        </p:nvSpPr>
        <p:spPr>
          <a:xfrm>
            <a:off x="8305799" y="2341032"/>
            <a:ext cx="2650066" cy="21759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Bents konto</a:t>
            </a:r>
          </a:p>
          <a:p>
            <a:endParaRPr lang="da-DK" sz="2800" dirty="0"/>
          </a:p>
          <a:p>
            <a:r>
              <a:rPr lang="da-DK" sz="2800" dirty="0"/>
              <a:t>1000 kr.</a:t>
            </a:r>
          </a:p>
        </p:txBody>
      </p:sp>
      <p:sp>
        <p:nvSpPr>
          <p:cNvPr id="3" name="Pil: højre 2">
            <a:extLst>
              <a:ext uri="{FF2B5EF4-FFF2-40B4-BE49-F238E27FC236}">
                <a16:creationId xmlns:a16="http://schemas.microsoft.com/office/drawing/2014/main" id="{54DAF4F8-D3CD-4436-9068-F6BC7384BB12}"/>
              </a:ext>
            </a:extLst>
          </p:cNvPr>
          <p:cNvSpPr/>
          <p:nvPr/>
        </p:nvSpPr>
        <p:spPr>
          <a:xfrm>
            <a:off x="4910667" y="2946400"/>
            <a:ext cx="2997200" cy="1159933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Overfør 500 kr.</a:t>
            </a:r>
          </a:p>
        </p:txBody>
      </p:sp>
    </p:spTree>
    <p:extLst>
      <p:ext uri="{BB962C8B-B14F-4D97-AF65-F5344CB8AC3E}">
        <p14:creationId xmlns:p14="http://schemas.microsoft.com/office/powerpoint/2010/main" val="251920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FBC83-F965-4B06-86E0-0B5F2E71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156DBF6-5E75-46E3-BE82-9A91411D8C82}"/>
              </a:ext>
            </a:extLst>
          </p:cNvPr>
          <p:cNvSpPr/>
          <p:nvPr/>
        </p:nvSpPr>
        <p:spPr>
          <a:xfrm>
            <a:off x="1744133" y="2341033"/>
            <a:ext cx="2650066" cy="2175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Annes konto</a:t>
            </a:r>
          </a:p>
          <a:p>
            <a:endParaRPr lang="da-DK" sz="2800" dirty="0"/>
          </a:p>
          <a:p>
            <a:r>
              <a:rPr lang="da-DK" sz="2800" dirty="0"/>
              <a:t>3000 kr.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79ED6D9-1DFC-4C62-8752-FA107843A94D}"/>
              </a:ext>
            </a:extLst>
          </p:cNvPr>
          <p:cNvSpPr/>
          <p:nvPr/>
        </p:nvSpPr>
        <p:spPr>
          <a:xfrm>
            <a:off x="8305799" y="2341032"/>
            <a:ext cx="2650066" cy="21759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Bents konto</a:t>
            </a:r>
          </a:p>
          <a:p>
            <a:endParaRPr lang="da-DK" sz="2800" dirty="0"/>
          </a:p>
          <a:p>
            <a:r>
              <a:rPr lang="da-DK" sz="2800" dirty="0"/>
              <a:t>1000 kr.</a:t>
            </a:r>
          </a:p>
        </p:txBody>
      </p:sp>
      <p:sp>
        <p:nvSpPr>
          <p:cNvPr id="6" name="Sky 5">
            <a:extLst>
              <a:ext uri="{FF2B5EF4-FFF2-40B4-BE49-F238E27FC236}">
                <a16:creationId xmlns:a16="http://schemas.microsoft.com/office/drawing/2014/main" id="{4C7999EF-3ED9-48D4-9DE6-CAA346EC949A}"/>
              </a:ext>
            </a:extLst>
          </p:cNvPr>
          <p:cNvSpPr/>
          <p:nvPr/>
        </p:nvSpPr>
        <p:spPr>
          <a:xfrm>
            <a:off x="5435598" y="1385093"/>
            <a:ext cx="1735667" cy="1286933"/>
          </a:xfrm>
          <a:prstGeom prst="cloud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dirty="0"/>
              <a:t>0 Kr.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11F965B1-C7C9-4774-984A-5B7578CDC8A8}"/>
              </a:ext>
            </a:extLst>
          </p:cNvPr>
          <p:cNvSpPr txBox="1"/>
          <p:nvPr/>
        </p:nvSpPr>
        <p:spPr>
          <a:xfrm>
            <a:off x="340948" y="176241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dirty="0">
                <a:solidFill>
                  <a:srgbClr val="FF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5553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FBC83-F965-4B06-86E0-0B5F2E71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156DBF6-5E75-46E3-BE82-9A91411D8C82}"/>
              </a:ext>
            </a:extLst>
          </p:cNvPr>
          <p:cNvSpPr/>
          <p:nvPr/>
        </p:nvSpPr>
        <p:spPr>
          <a:xfrm>
            <a:off x="1744133" y="2341033"/>
            <a:ext cx="2650066" cy="2175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Annes konto</a:t>
            </a:r>
          </a:p>
          <a:p>
            <a:endParaRPr lang="da-DK" sz="2800" dirty="0"/>
          </a:p>
          <a:p>
            <a:r>
              <a:rPr lang="da-DK" sz="2800" dirty="0"/>
              <a:t>2500 kr.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79ED6D9-1DFC-4C62-8752-FA107843A94D}"/>
              </a:ext>
            </a:extLst>
          </p:cNvPr>
          <p:cNvSpPr/>
          <p:nvPr/>
        </p:nvSpPr>
        <p:spPr>
          <a:xfrm>
            <a:off x="8305799" y="2341032"/>
            <a:ext cx="2650066" cy="21759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Bents konto</a:t>
            </a:r>
          </a:p>
          <a:p>
            <a:endParaRPr lang="da-DK" sz="2800" dirty="0"/>
          </a:p>
          <a:p>
            <a:r>
              <a:rPr lang="da-DK" sz="2800" dirty="0"/>
              <a:t>1000 kr.</a:t>
            </a:r>
          </a:p>
        </p:txBody>
      </p:sp>
      <p:sp>
        <p:nvSpPr>
          <p:cNvPr id="6" name="Sky 5">
            <a:extLst>
              <a:ext uri="{FF2B5EF4-FFF2-40B4-BE49-F238E27FC236}">
                <a16:creationId xmlns:a16="http://schemas.microsoft.com/office/drawing/2014/main" id="{4C7999EF-3ED9-48D4-9DE6-CAA346EC949A}"/>
              </a:ext>
            </a:extLst>
          </p:cNvPr>
          <p:cNvSpPr/>
          <p:nvPr/>
        </p:nvSpPr>
        <p:spPr>
          <a:xfrm>
            <a:off x="5435598" y="1385093"/>
            <a:ext cx="1735667" cy="1286933"/>
          </a:xfrm>
          <a:prstGeom prst="cloud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dirty="0"/>
              <a:t>500 Kr.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11F965B1-C7C9-4774-984A-5B7578CDC8A8}"/>
              </a:ext>
            </a:extLst>
          </p:cNvPr>
          <p:cNvSpPr txBox="1"/>
          <p:nvPr/>
        </p:nvSpPr>
        <p:spPr>
          <a:xfrm>
            <a:off x="340948" y="176241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8157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FBC83-F965-4B06-86E0-0B5F2E71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156DBF6-5E75-46E3-BE82-9A91411D8C82}"/>
              </a:ext>
            </a:extLst>
          </p:cNvPr>
          <p:cNvSpPr/>
          <p:nvPr/>
        </p:nvSpPr>
        <p:spPr>
          <a:xfrm>
            <a:off x="1744133" y="2341033"/>
            <a:ext cx="2650066" cy="2175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Annes konto</a:t>
            </a:r>
          </a:p>
          <a:p>
            <a:endParaRPr lang="da-DK" sz="2800" dirty="0"/>
          </a:p>
          <a:p>
            <a:r>
              <a:rPr lang="da-DK" sz="2800" dirty="0"/>
              <a:t>2500 kr.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79ED6D9-1DFC-4C62-8752-FA107843A94D}"/>
              </a:ext>
            </a:extLst>
          </p:cNvPr>
          <p:cNvSpPr/>
          <p:nvPr/>
        </p:nvSpPr>
        <p:spPr>
          <a:xfrm>
            <a:off x="8305799" y="2341032"/>
            <a:ext cx="2650066" cy="21759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dirty="0"/>
              <a:t>Bents konto</a:t>
            </a:r>
          </a:p>
          <a:p>
            <a:endParaRPr lang="da-DK" sz="2800" dirty="0"/>
          </a:p>
          <a:p>
            <a:r>
              <a:rPr lang="da-DK" sz="2800" dirty="0"/>
              <a:t>1500 kr.</a:t>
            </a:r>
          </a:p>
        </p:txBody>
      </p:sp>
      <p:sp>
        <p:nvSpPr>
          <p:cNvPr id="6" name="Sky 5">
            <a:extLst>
              <a:ext uri="{FF2B5EF4-FFF2-40B4-BE49-F238E27FC236}">
                <a16:creationId xmlns:a16="http://schemas.microsoft.com/office/drawing/2014/main" id="{4C7999EF-3ED9-48D4-9DE6-CAA346EC949A}"/>
              </a:ext>
            </a:extLst>
          </p:cNvPr>
          <p:cNvSpPr/>
          <p:nvPr/>
        </p:nvSpPr>
        <p:spPr>
          <a:xfrm>
            <a:off x="5435598" y="1385093"/>
            <a:ext cx="1735667" cy="1286933"/>
          </a:xfrm>
          <a:prstGeom prst="cloud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dirty="0"/>
              <a:t>0 Kr.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11F965B1-C7C9-4774-984A-5B7578CDC8A8}"/>
              </a:ext>
            </a:extLst>
          </p:cNvPr>
          <p:cNvSpPr txBox="1"/>
          <p:nvPr/>
        </p:nvSpPr>
        <p:spPr>
          <a:xfrm>
            <a:off x="340948" y="176241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943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F5909-F4B1-491F-A333-D4958326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9A09D4C-8D20-4BAD-8430-165837E4E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Tilstand 0 repræsenterer en gyldig tilstand</a:t>
            </a:r>
          </a:p>
          <a:p>
            <a:r>
              <a:rPr lang="da-DK" dirty="0"/>
              <a:t>Tilstand 2 repræsenterer en gyldig tilstand</a:t>
            </a:r>
          </a:p>
          <a:p>
            <a:r>
              <a:rPr lang="da-DK" dirty="0"/>
              <a:t>Tilstand 1 repræsenterer </a:t>
            </a:r>
            <a:r>
              <a:rPr lang="da-DK" u="sng" dirty="0"/>
              <a:t>ikke</a:t>
            </a:r>
            <a:r>
              <a:rPr lang="da-DK" dirty="0"/>
              <a:t> en gyldig tilstand</a:t>
            </a:r>
          </a:p>
          <a:p>
            <a:r>
              <a:rPr lang="da-DK" dirty="0"/>
              <a:t>Hvad nu hvis systemet crasher i Tilstand 1…</a:t>
            </a:r>
          </a:p>
        </p:txBody>
      </p:sp>
    </p:spTree>
    <p:extLst>
      <p:ext uri="{BB962C8B-B14F-4D97-AF65-F5344CB8AC3E}">
        <p14:creationId xmlns:p14="http://schemas.microsoft.com/office/powerpoint/2010/main" val="208482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F5909-F4B1-491F-A333-D4958326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9A09D4C-8D20-4BAD-8430-165837E4E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</a:t>
            </a:r>
            <a:r>
              <a:rPr lang="da-DK" b="1" dirty="0"/>
              <a:t>transaktion</a:t>
            </a:r>
            <a:r>
              <a:rPr lang="da-DK" dirty="0"/>
              <a:t> repræsenterer en </a:t>
            </a:r>
            <a:r>
              <a:rPr lang="da-DK" u="sng" dirty="0"/>
              <a:t>samling af handlinger</a:t>
            </a:r>
            <a:r>
              <a:rPr lang="da-DK" dirty="0"/>
              <a:t>, der bringer systemet fra en gyldig tilstand til en anden gyldig tilstand.</a:t>
            </a:r>
          </a:p>
          <a:p>
            <a:r>
              <a:rPr lang="da-DK" dirty="0"/>
              <a:t>De enkelte handlinger i en transaktion kan (temporært) efterlade systemet i en ugyldig tilstand.</a:t>
            </a:r>
          </a:p>
          <a:p>
            <a:r>
              <a:rPr lang="da-DK" dirty="0"/>
              <a:t>Hvis en samling af handlinger defineres som én transaktion, vil det altid gælde at</a:t>
            </a:r>
          </a:p>
          <a:p>
            <a:pPr lvl="1"/>
            <a:r>
              <a:rPr lang="da-DK" u="sng" dirty="0"/>
              <a:t>Alle</a:t>
            </a:r>
            <a:r>
              <a:rPr lang="da-DK" dirty="0"/>
              <a:t> handlinger i transaktionen gennemføres, eller</a:t>
            </a:r>
          </a:p>
          <a:p>
            <a:pPr lvl="1"/>
            <a:r>
              <a:rPr lang="da-DK" u="sng" dirty="0"/>
              <a:t>Ingen</a:t>
            </a:r>
            <a:r>
              <a:rPr lang="da-DK" dirty="0"/>
              <a:t> handlinger i transaktionen gennemføres</a:t>
            </a:r>
          </a:p>
        </p:txBody>
      </p:sp>
    </p:spTree>
    <p:extLst>
      <p:ext uri="{BB962C8B-B14F-4D97-AF65-F5344CB8AC3E}">
        <p14:creationId xmlns:p14="http://schemas.microsoft.com/office/powerpoint/2010/main" val="231073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7F88F3-E109-4DCB-9F6D-F39EB67F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7F5C2CB-86DE-43DA-8A9B-3D014DF0C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239" y="1690687"/>
            <a:ext cx="7294294" cy="3656381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68F49501-1BA8-41A7-AF4D-0119DA4B0B19}"/>
              </a:ext>
            </a:extLst>
          </p:cNvPr>
          <p:cNvSpPr txBox="1"/>
          <p:nvPr/>
        </p:nvSpPr>
        <p:spPr>
          <a:xfrm>
            <a:off x="8125155" y="5617874"/>
            <a:ext cx="33281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/>
              <a:t>https://www.geeksforgeeks.org/dbms/transaction-in-dbms/</a:t>
            </a:r>
          </a:p>
        </p:txBody>
      </p:sp>
    </p:spTree>
    <p:extLst>
      <p:ext uri="{BB962C8B-B14F-4D97-AF65-F5344CB8AC3E}">
        <p14:creationId xmlns:p14="http://schemas.microsoft.com/office/powerpoint/2010/main" val="147770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6C721-16EC-4E84-951D-ECA29313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3F4CF8-B3B8-4454-A026-935CAE8FB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27067" cy="4351338"/>
          </a:xfrm>
        </p:spPr>
        <p:txBody>
          <a:bodyPr/>
          <a:lstStyle/>
          <a:p>
            <a:r>
              <a:rPr lang="da-DK" dirty="0"/>
              <a:t>Man siger ofte at transaktioner skal følge </a:t>
            </a:r>
            <a:r>
              <a:rPr lang="da-DK" b="1" dirty="0"/>
              <a:t>ACID-</a:t>
            </a:r>
            <a:r>
              <a:rPr lang="da-DK" dirty="0"/>
              <a:t>principperne (</a:t>
            </a:r>
            <a:r>
              <a:rPr lang="da-DK" b="1" dirty="0"/>
              <a:t>ACID</a:t>
            </a:r>
            <a:r>
              <a:rPr lang="da-DK" dirty="0"/>
              <a:t> er en forkortelse af engelske begreber):</a:t>
            </a:r>
          </a:p>
          <a:p>
            <a:pPr lvl="1"/>
            <a:r>
              <a:rPr lang="da-DK" b="1" dirty="0"/>
              <a:t>A</a:t>
            </a:r>
            <a:r>
              <a:rPr lang="da-DK" dirty="0"/>
              <a:t>tomic: Enten gennemføres </a:t>
            </a:r>
            <a:r>
              <a:rPr lang="da-DK" u="sng" dirty="0"/>
              <a:t>alle</a:t>
            </a:r>
            <a:r>
              <a:rPr lang="da-DK" dirty="0"/>
              <a:t> handlinger i transaktionen, eller også gennemføres </a:t>
            </a:r>
            <a:r>
              <a:rPr lang="da-DK" u="sng" dirty="0"/>
              <a:t>ingen</a:t>
            </a:r>
            <a:r>
              <a:rPr lang="da-DK" dirty="0"/>
              <a:t> handlinger</a:t>
            </a:r>
          </a:p>
          <a:p>
            <a:pPr lvl="1"/>
            <a:r>
              <a:rPr lang="da-DK" b="1" dirty="0"/>
              <a:t>C</a:t>
            </a:r>
            <a:r>
              <a:rPr lang="da-DK" dirty="0"/>
              <a:t>onsistent: En transaktion </a:t>
            </a:r>
            <a:r>
              <a:rPr lang="da-DK" u="sng" dirty="0"/>
              <a:t>udføres</a:t>
            </a:r>
            <a:r>
              <a:rPr lang="da-DK" dirty="0"/>
              <a:t> på et system i et konsistent tilstand, og </a:t>
            </a:r>
            <a:r>
              <a:rPr lang="da-DK" u="sng" dirty="0"/>
              <a:t>efterlader</a:t>
            </a:r>
            <a:r>
              <a:rPr lang="da-DK" dirty="0"/>
              <a:t> systemet i en konsistent tilstand</a:t>
            </a:r>
          </a:p>
          <a:p>
            <a:pPr lvl="1"/>
            <a:r>
              <a:rPr lang="da-DK" b="1" dirty="0"/>
              <a:t>I</a:t>
            </a:r>
            <a:r>
              <a:rPr lang="da-DK" dirty="0"/>
              <a:t>solated: Udførslen af en transaktion påvirker ikke udførslen af andre transaktioner.</a:t>
            </a:r>
          </a:p>
          <a:p>
            <a:pPr lvl="1"/>
            <a:r>
              <a:rPr lang="da-DK" b="1" dirty="0"/>
              <a:t>D</a:t>
            </a:r>
            <a:r>
              <a:rPr lang="da-DK" dirty="0"/>
              <a:t>urable: Når en transaktion er gennemført, er ændringen af systemet </a:t>
            </a:r>
            <a:r>
              <a:rPr lang="da-DK" u="sng" dirty="0"/>
              <a:t>permanent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778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8DD39-D247-4D6D-9E7E-0B2C50F5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AF85FE7-75BE-4737-9BC2-4CD0EAECE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79067" cy="4351338"/>
          </a:xfrm>
        </p:spPr>
        <p:txBody>
          <a:bodyPr/>
          <a:lstStyle/>
          <a:p>
            <a:r>
              <a:rPr lang="da-DK" dirty="0"/>
              <a:t>Understøttelse af transaktioner er en vigtig egenskab ved database-systemer (DBMS)</a:t>
            </a:r>
          </a:p>
          <a:p>
            <a:r>
              <a:rPr lang="da-DK" dirty="0"/>
              <a:t>Er også en del af </a:t>
            </a:r>
            <a:r>
              <a:rPr lang="da-DK" b="1" dirty="0"/>
              <a:t>SQL</a:t>
            </a:r>
          </a:p>
          <a:p>
            <a:r>
              <a:rPr lang="da-DK" b="1"/>
              <a:t>COMMIT</a:t>
            </a:r>
            <a:r>
              <a:rPr lang="da-DK" dirty="0"/>
              <a:t>: hele transaktionen bliver gennemført</a:t>
            </a:r>
          </a:p>
          <a:p>
            <a:r>
              <a:rPr lang="da-DK" b="1"/>
              <a:t>ROLLBACK</a:t>
            </a:r>
            <a:r>
              <a:rPr lang="da-DK" dirty="0"/>
              <a:t>: systemet efterlades i samme tilstand som før transaktionen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F99E396-DE4C-439C-9C6A-58B8B01F9A01}"/>
              </a:ext>
            </a:extLst>
          </p:cNvPr>
          <p:cNvSpPr txBox="1"/>
          <p:nvPr/>
        </p:nvSpPr>
        <p:spPr>
          <a:xfrm>
            <a:off x="7391400" y="1888067"/>
            <a:ext cx="43277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Simple operation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Weapon</a:t>
            </a: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ItemLevel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200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Commit if everything succeeds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COMMIT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Rollback on error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@@TRANCOUNT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ROLLBACK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da-DK" sz="1200" dirty="0"/>
          </a:p>
        </p:txBody>
      </p:sp>
    </p:spTree>
    <p:extLst>
      <p:ext uri="{BB962C8B-B14F-4D97-AF65-F5344CB8AC3E}">
        <p14:creationId xmlns:p14="http://schemas.microsoft.com/office/powerpoint/2010/main" val="229926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61BE5-5DB2-493D-97CE-20578BE9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C5B60FD-209B-4810-B2BC-F2D3AE6BC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98733" cy="4351338"/>
          </a:xfrm>
        </p:spPr>
        <p:txBody>
          <a:bodyPr/>
          <a:lstStyle/>
          <a:p>
            <a:r>
              <a:rPr lang="da-DK" dirty="0"/>
              <a:t>Udførsel af transaktioner vil typisk lægge beslag på – måske endda </a:t>
            </a:r>
            <a:r>
              <a:rPr lang="da-DK" u="sng" dirty="0"/>
              <a:t>låse</a:t>
            </a:r>
            <a:r>
              <a:rPr lang="da-DK" dirty="0"/>
              <a:t> – dele af databasen</a:t>
            </a:r>
          </a:p>
          <a:p>
            <a:r>
              <a:rPr lang="da-DK" dirty="0"/>
              <a:t>Låsning kan være på række-niveau, eller på tabel-niveau.</a:t>
            </a:r>
          </a:p>
          <a:p>
            <a:r>
              <a:rPr lang="da-DK" dirty="0"/>
              <a:t>Jo mere kompleks transaktionen er, jo flere dele kan blive låst, jo lavere performance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EA39945-D955-4DFD-B2ED-8D81FCEF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199" y="1909233"/>
            <a:ext cx="3039533" cy="303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1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61BE5-5DB2-493D-97CE-20578BE9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Transaktioner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C5B60FD-209B-4810-B2BC-F2D3AE6BC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1600" cy="4351338"/>
          </a:xfrm>
        </p:spPr>
        <p:txBody>
          <a:bodyPr/>
          <a:lstStyle/>
          <a:p>
            <a:r>
              <a:rPr lang="da-DK" dirty="0"/>
              <a:t>Transaktioner bør holdes små, dvs. blive udført (</a:t>
            </a:r>
            <a:r>
              <a:rPr lang="da-DK" b="1" dirty="0"/>
              <a:t>COMMIT</a:t>
            </a:r>
            <a:r>
              <a:rPr lang="da-DK" dirty="0"/>
              <a:t>) eller rulles tilbage (</a:t>
            </a:r>
            <a:r>
              <a:rPr lang="da-DK" b="1" dirty="0"/>
              <a:t>ROLLBACK</a:t>
            </a:r>
            <a:r>
              <a:rPr lang="da-DK" dirty="0"/>
              <a:t>) så hurtigt som muligt</a:t>
            </a:r>
          </a:p>
          <a:p>
            <a:r>
              <a:rPr lang="da-DK" dirty="0"/>
              <a:t>Og hvad med distribuerede databaser… </a:t>
            </a:r>
            <a:r>
              <a:rPr lang="da-DK" dirty="0">
                <a:sym typeface="Wingdings" panose="05000000000000000000" pitchFamily="2" charset="2"/>
              </a:rPr>
              <a:t></a:t>
            </a:r>
          </a:p>
          <a:p>
            <a:r>
              <a:rPr lang="da-DK" dirty="0">
                <a:sym typeface="Wingdings" panose="05000000000000000000" pitchFamily="2" charset="2"/>
              </a:rPr>
              <a:t>Transaktioner og hvad deraf følger er et stort og komplekst emne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9D6F58A8-DE98-4086-AC81-A1C016F6D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033" y="795738"/>
            <a:ext cx="2579246" cy="526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7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596F7-44B5-4F17-B1E4-4920856C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A48C9AA-5D0D-4A5E-A4AF-0BFE9FCBD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39000" cy="4351338"/>
          </a:xfrm>
        </p:spPr>
        <p:txBody>
          <a:bodyPr/>
          <a:lstStyle/>
          <a:p>
            <a:r>
              <a:rPr lang="da-DK" dirty="0"/>
              <a:t>I vores eksempel med </a:t>
            </a:r>
            <a:r>
              <a:rPr lang="da-DK" b="1" dirty="0"/>
              <a:t>Kunde</a:t>
            </a:r>
            <a:r>
              <a:rPr lang="da-DK" dirty="0"/>
              <a:t>, </a:t>
            </a:r>
            <a:r>
              <a:rPr lang="da-DK" b="1" dirty="0"/>
              <a:t>Produkt</a:t>
            </a:r>
            <a:r>
              <a:rPr lang="da-DK" dirty="0"/>
              <a:t>, </a:t>
            </a:r>
            <a:r>
              <a:rPr lang="da-DK" b="1" dirty="0"/>
              <a:t>Ordre</a:t>
            </a:r>
            <a:r>
              <a:rPr lang="da-DK" dirty="0"/>
              <a:t> og </a:t>
            </a:r>
            <a:r>
              <a:rPr lang="da-DK" b="1" dirty="0"/>
              <a:t>OrdreLinje</a:t>
            </a:r>
            <a:r>
              <a:rPr lang="da-DK" dirty="0"/>
              <a:t> har vi ikke taget stilling til hvad der skal ske, hvis vi prøver at slette f.eks. en </a:t>
            </a:r>
            <a:r>
              <a:rPr lang="da-DK" b="1" dirty="0"/>
              <a:t>Kunde</a:t>
            </a:r>
            <a:r>
              <a:rPr lang="da-DK" dirty="0"/>
              <a:t>-række.</a:t>
            </a:r>
          </a:p>
          <a:p>
            <a:r>
              <a:rPr lang="da-DK" dirty="0"/>
              <a:t>Eller rettere: hvis vi ikke tager stilling, kan vi </a:t>
            </a:r>
            <a:r>
              <a:rPr lang="da-DK" u="sng" dirty="0"/>
              <a:t>ikke</a:t>
            </a:r>
            <a:r>
              <a:rPr lang="da-DK" dirty="0"/>
              <a:t> slette en </a:t>
            </a:r>
            <a:r>
              <a:rPr lang="da-DK" b="1" dirty="0"/>
              <a:t>Kunde-række</a:t>
            </a:r>
            <a:r>
              <a:rPr lang="da-DK" dirty="0"/>
              <a:t>, hvis (værdien af) dens primær-nøgle er en fremmednøgle i en </a:t>
            </a:r>
            <a:r>
              <a:rPr lang="da-DK" b="1" dirty="0"/>
              <a:t>Ordre-række</a:t>
            </a:r>
            <a:r>
              <a:rPr lang="da-DK" dirty="0"/>
              <a:t> (data-integritet)</a:t>
            </a:r>
          </a:p>
        </p:txBody>
      </p:sp>
      <p:pic>
        <p:nvPicPr>
          <p:cNvPr id="3074" name="Picture 2" descr="File:Cascade- d'Aklowa 22.jpg - Wikimedia Commons">
            <a:extLst>
              <a:ext uri="{FF2B5EF4-FFF2-40B4-BE49-F238E27FC236}">
                <a16:creationId xmlns:a16="http://schemas.microsoft.com/office/drawing/2014/main" id="{D6C87A0A-8DE7-485B-9CE6-6CE585A2F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683" y="1312333"/>
            <a:ext cx="3175000" cy="42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08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3D9C96-3D9C-4D76-BA5B-280ED9DD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589290-46B4-42BA-B53F-0103BAF9E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93867" cy="4351338"/>
          </a:xfrm>
        </p:spPr>
        <p:txBody>
          <a:bodyPr/>
          <a:lstStyle/>
          <a:p>
            <a:r>
              <a:rPr lang="da-DK" dirty="0"/>
              <a:t>Hvad hvis vi gerne vi følgende: Når en </a:t>
            </a:r>
            <a:r>
              <a:rPr lang="da-DK" b="1" dirty="0"/>
              <a:t>Kunde</a:t>
            </a:r>
            <a:r>
              <a:rPr lang="da-DK" dirty="0"/>
              <a:t>-række slettes, skal vi</a:t>
            </a:r>
          </a:p>
          <a:p>
            <a:pPr marL="914400" lvl="1" indent="-457200">
              <a:buFont typeface="+mj-lt"/>
              <a:buAutoNum type="arabicPeriod"/>
            </a:pPr>
            <a:r>
              <a:rPr lang="da-DK" dirty="0"/>
              <a:t>Slette alle </a:t>
            </a:r>
            <a:r>
              <a:rPr lang="da-DK" b="1" dirty="0"/>
              <a:t>Ordre</a:t>
            </a:r>
            <a:r>
              <a:rPr lang="da-DK" dirty="0"/>
              <a:t>-rækker hvor </a:t>
            </a:r>
            <a:r>
              <a:rPr lang="da-DK" b="1" dirty="0"/>
              <a:t>KundeId</a:t>
            </a:r>
            <a:r>
              <a:rPr lang="da-DK" dirty="0"/>
              <a:t> (fremmednøgle) matcher </a:t>
            </a:r>
            <a:r>
              <a:rPr lang="da-DK" b="1" dirty="0"/>
              <a:t>Id</a:t>
            </a:r>
            <a:r>
              <a:rPr lang="da-DK" dirty="0"/>
              <a:t> (primærnøgle) på den slettede </a:t>
            </a:r>
            <a:r>
              <a:rPr lang="da-DK" b="1" dirty="0"/>
              <a:t>Kunde</a:t>
            </a:r>
            <a:r>
              <a:rPr lang="da-DK" dirty="0"/>
              <a:t>-række.</a:t>
            </a:r>
          </a:p>
          <a:p>
            <a:pPr marL="914400" lvl="1" indent="-457200">
              <a:buFont typeface="+mj-lt"/>
              <a:buAutoNum type="arabicPeriod"/>
            </a:pPr>
            <a:r>
              <a:rPr lang="da-DK" dirty="0"/>
              <a:t>Slette alle </a:t>
            </a:r>
            <a:r>
              <a:rPr lang="da-DK" b="1" dirty="0"/>
              <a:t>OrdreLinje</a:t>
            </a:r>
            <a:r>
              <a:rPr lang="da-DK" dirty="0"/>
              <a:t>-rækker hvor </a:t>
            </a:r>
            <a:r>
              <a:rPr lang="da-DK" b="1" dirty="0"/>
              <a:t>OrdreId</a:t>
            </a:r>
            <a:r>
              <a:rPr lang="da-DK" dirty="0"/>
              <a:t> (fremmednøgle) matcher </a:t>
            </a:r>
            <a:r>
              <a:rPr lang="da-DK" b="1" dirty="0"/>
              <a:t>Id</a:t>
            </a:r>
            <a:r>
              <a:rPr lang="da-DK" dirty="0"/>
              <a:t> (primærnøgle) på en af de </a:t>
            </a:r>
            <a:r>
              <a:rPr lang="da-DK" b="1" dirty="0"/>
              <a:t>Ordre</a:t>
            </a:r>
            <a:r>
              <a:rPr lang="da-DK" dirty="0"/>
              <a:t>-rækker vi slettede i Trin 1.</a:t>
            </a:r>
          </a:p>
          <a:p>
            <a:r>
              <a:rPr lang="da-DK" dirty="0"/>
              <a:t>Denne logik kan implementeres i den app som benytter databasen, men kan også implementeres af databasen selv.</a:t>
            </a:r>
          </a:p>
        </p:txBody>
      </p:sp>
    </p:spTree>
    <p:extLst>
      <p:ext uri="{BB962C8B-B14F-4D97-AF65-F5344CB8AC3E}">
        <p14:creationId xmlns:p14="http://schemas.microsoft.com/office/powerpoint/2010/main" val="44309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3D9C96-3D9C-4D76-BA5B-280ED9DD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CA1C4837-8383-4D60-AB54-0493E685FECB}"/>
              </a:ext>
            </a:extLst>
          </p:cNvPr>
          <p:cNvSpPr txBox="1"/>
          <p:nvPr/>
        </p:nvSpPr>
        <p:spPr>
          <a:xfrm>
            <a:off x="2015067" y="1787903"/>
            <a:ext cx="684995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Før</a:t>
            </a:r>
            <a:endParaRPr lang="da-DK" sz="1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[Ordre]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[Id]     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[KundeId]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CLUSTERED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[FK_Ordre_Kunde_KundeId]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[KundeId]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[Kunde]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da-DK" sz="1400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418AFEB4-71BF-472C-B754-601F2641ACB2}"/>
              </a:ext>
            </a:extLst>
          </p:cNvPr>
          <p:cNvSpPr txBox="1"/>
          <p:nvPr/>
        </p:nvSpPr>
        <p:spPr>
          <a:xfrm>
            <a:off x="2015067" y="4037466"/>
            <a:ext cx="68499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Efter</a:t>
            </a:r>
            <a:endParaRPr lang="da-DK" sz="1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[Ordre]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[Id]     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[KundeId]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CLUSTERED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[FK_Ordre_Kunde_KundeId]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[KundeId]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[Kunde]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ON</a:t>
            </a:r>
            <a:r>
              <a:rPr lang="da-DK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DELETE</a:t>
            </a:r>
            <a:r>
              <a:rPr lang="da-DK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da-DK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CASCADE</a:t>
            </a:r>
            <a:endParaRPr lang="da-DK" sz="14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da-DK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da-DK" sz="1400" dirty="0"/>
          </a:p>
        </p:txBody>
      </p:sp>
    </p:spTree>
    <p:extLst>
      <p:ext uri="{BB962C8B-B14F-4D97-AF65-F5344CB8AC3E}">
        <p14:creationId xmlns:p14="http://schemas.microsoft.com/office/powerpoint/2010/main" val="340139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3D9C96-3D9C-4D76-BA5B-280ED9DD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CA1C4837-8383-4D60-AB54-0493E685FECB}"/>
              </a:ext>
            </a:extLst>
          </p:cNvPr>
          <p:cNvSpPr txBox="1"/>
          <p:nvPr/>
        </p:nvSpPr>
        <p:spPr>
          <a:xfrm>
            <a:off x="2015067" y="1787903"/>
            <a:ext cx="515718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Før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[OrdreLinje]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[Id]       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[OrdreId]  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[ProduktId]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[Antal]    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CLUSTERED 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[FK_OrdreLinje_Ordre_OrdreId] 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[OrdreId]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CONSTRAINT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[FK_OrdreLinje_Produkt_ProduktId] 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[ProduktId]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[Produkt]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da-DK" sz="10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418AFEB4-71BF-472C-B754-601F2641ACB2}"/>
              </a:ext>
            </a:extLst>
          </p:cNvPr>
          <p:cNvSpPr txBox="1"/>
          <p:nvPr/>
        </p:nvSpPr>
        <p:spPr>
          <a:xfrm>
            <a:off x="2015067" y="4037466"/>
            <a:ext cx="5157181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Efter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[OrdreLinje]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[Id]       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[OrdreId]  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[ProduktId]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[Antal]    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CLUSTERED 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[FK_OrdreLinje_Ordre_OrdreId] 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[OrdreId]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sz="10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ON</a:t>
            </a:r>
            <a:r>
              <a:rPr lang="da-DK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DELETE</a:t>
            </a:r>
            <a:r>
              <a:rPr lang="da-DK" sz="1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da-DK" sz="10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CASCADE</a:t>
            </a:r>
            <a:r>
              <a:rPr lang="da-DK" sz="10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,</a:t>
            </a:r>
            <a:endParaRPr lang="da-DK" sz="10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da-DK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[FK_OrdreLinje_Produkt_ProduktId] </a:t>
            </a: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[ProduktId]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[Produkt]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[Id]</a:t>
            </a:r>
            <a:r>
              <a:rPr lang="en-US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da-DK" sz="10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24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3D9C96-3D9C-4D76-BA5B-280ED9DD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589290-46B4-42BA-B53F-0103BAF9E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8915400" cy="4351338"/>
          </a:xfrm>
        </p:spPr>
        <p:txBody>
          <a:bodyPr/>
          <a:lstStyle/>
          <a:p>
            <a:r>
              <a:rPr lang="da-DK" dirty="0"/>
              <a:t>Herved får vi en ”kaskade-effekt”, når vi sletter en </a:t>
            </a:r>
            <a:r>
              <a:rPr lang="da-DK" b="1" dirty="0"/>
              <a:t>Kunde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Sletning af </a:t>
            </a:r>
            <a:r>
              <a:rPr lang="da-DK" b="1" dirty="0"/>
              <a:t>Kunde</a:t>
            </a:r>
            <a:r>
              <a:rPr lang="da-DK" dirty="0"/>
              <a:t> forårsager sletning af </a:t>
            </a:r>
            <a:r>
              <a:rPr lang="da-DK" b="1" dirty="0"/>
              <a:t>Ordrer</a:t>
            </a:r>
          </a:p>
          <a:p>
            <a:pPr lvl="1"/>
            <a:r>
              <a:rPr lang="da-DK" dirty="0"/>
              <a:t>Sletning af </a:t>
            </a:r>
            <a:r>
              <a:rPr lang="da-DK" b="1" dirty="0"/>
              <a:t>Ordre</a:t>
            </a:r>
            <a:r>
              <a:rPr lang="da-DK" dirty="0"/>
              <a:t> forårsager sletning af </a:t>
            </a:r>
            <a:r>
              <a:rPr lang="da-DK" b="1" dirty="0"/>
              <a:t>OrdreLinjer</a:t>
            </a:r>
          </a:p>
          <a:p>
            <a:r>
              <a:rPr lang="da-DK" dirty="0"/>
              <a:t>MEN vi skal naturligvis overveje, om dette er den rette forretningslogik!</a:t>
            </a:r>
          </a:p>
          <a:p>
            <a:r>
              <a:rPr lang="da-DK" dirty="0"/>
              <a:t>Bør </a:t>
            </a:r>
            <a:r>
              <a:rPr lang="da-DK" b="1" dirty="0"/>
              <a:t>Ordrer</a:t>
            </a:r>
            <a:r>
              <a:rPr lang="da-DK" dirty="0"/>
              <a:t> ikke fortsat stå i systemet – for eksempel ift. at lave regnskab – selv om en </a:t>
            </a:r>
            <a:r>
              <a:rPr lang="da-DK" b="1" dirty="0"/>
              <a:t>Kunde</a:t>
            </a:r>
            <a:r>
              <a:rPr lang="da-DK" dirty="0"/>
              <a:t> er blevet slettet…?</a:t>
            </a:r>
          </a:p>
          <a:p>
            <a:r>
              <a:rPr lang="da-DK" dirty="0"/>
              <a:t>Man kan i stedet lave såkaldt ”Soft Delete”</a:t>
            </a:r>
          </a:p>
        </p:txBody>
      </p:sp>
    </p:spTree>
    <p:extLst>
      <p:ext uri="{BB962C8B-B14F-4D97-AF65-F5344CB8AC3E}">
        <p14:creationId xmlns:p14="http://schemas.microsoft.com/office/powerpoint/2010/main" val="376774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3D9C96-3D9C-4D76-BA5B-280ED9DD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589290-46B4-42BA-B53F-0103BAF9E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8915400" cy="4351338"/>
          </a:xfrm>
        </p:spPr>
        <p:txBody>
          <a:bodyPr/>
          <a:lstStyle/>
          <a:p>
            <a:r>
              <a:rPr lang="da-DK" dirty="0"/>
              <a:t>Egenskaber ved ”Soft Delete”</a:t>
            </a:r>
          </a:p>
          <a:p>
            <a:pPr lvl="1"/>
            <a:r>
              <a:rPr lang="da-DK" dirty="0"/>
              <a:t>Ingen rækker bliver fysisk slettet</a:t>
            </a:r>
          </a:p>
          <a:p>
            <a:pPr lvl="1"/>
            <a:r>
              <a:rPr lang="da-DK" dirty="0"/>
              <a:t>Alle tabeller – eller i hvert fald dem hvor man ønsker Soft Delete – skal have en boolsk </a:t>
            </a:r>
            <a:r>
              <a:rPr lang="da-DK" b="1" dirty="0"/>
              <a:t>IsDeleted</a:t>
            </a:r>
            <a:r>
              <a:rPr lang="da-DK" dirty="0"/>
              <a:t>-kolonne</a:t>
            </a:r>
          </a:p>
          <a:p>
            <a:pPr lvl="2"/>
            <a:r>
              <a:rPr lang="da-DK" b="1" dirty="0"/>
              <a:t>IsDeleted</a:t>
            </a:r>
            <a:r>
              <a:rPr lang="da-DK" dirty="0"/>
              <a:t> = </a:t>
            </a:r>
            <a:r>
              <a:rPr lang="da-DK" i="1" dirty="0"/>
              <a:t>false</a:t>
            </a:r>
            <a:r>
              <a:rPr lang="da-DK" dirty="0"/>
              <a:t>: rækken findes. </a:t>
            </a:r>
          </a:p>
          <a:p>
            <a:pPr lvl="2"/>
            <a:r>
              <a:rPr lang="da-DK" b="1" dirty="0"/>
              <a:t>IsDeleted</a:t>
            </a:r>
            <a:r>
              <a:rPr lang="da-DK" dirty="0"/>
              <a:t> = </a:t>
            </a:r>
            <a:r>
              <a:rPr lang="da-DK" i="1" dirty="0"/>
              <a:t>true</a:t>
            </a:r>
            <a:r>
              <a:rPr lang="da-DK" dirty="0"/>
              <a:t>: rækken er ”slettet”</a:t>
            </a:r>
          </a:p>
          <a:p>
            <a:pPr lvl="1"/>
            <a:r>
              <a:rPr lang="da-DK" dirty="0"/>
              <a:t>En ”sletning” af en række implementeres ved at sætte</a:t>
            </a:r>
            <a:r>
              <a:rPr lang="da-DK" b="1" dirty="0"/>
              <a:t> IsDeleted</a:t>
            </a:r>
            <a:r>
              <a:rPr lang="da-DK" dirty="0"/>
              <a:t> til </a:t>
            </a:r>
            <a:r>
              <a:rPr lang="da-DK" i="1" dirty="0"/>
              <a:t>true</a:t>
            </a:r>
            <a:r>
              <a:rPr lang="da-DK" dirty="0"/>
              <a:t>, i stedet for fysisk at slette rækken. Derved overtræder man ikke primær/fremmednøgle-begrænsninger.</a:t>
            </a:r>
          </a:p>
        </p:txBody>
      </p:sp>
    </p:spTree>
    <p:extLst>
      <p:ext uri="{BB962C8B-B14F-4D97-AF65-F5344CB8AC3E}">
        <p14:creationId xmlns:p14="http://schemas.microsoft.com/office/powerpoint/2010/main" val="323751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D5692-B3C9-4982-AF20-C93131F6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FE52320-774A-47AC-9CFF-67359C892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43533" cy="4351338"/>
          </a:xfrm>
        </p:spPr>
        <p:txBody>
          <a:bodyPr/>
          <a:lstStyle/>
          <a:p>
            <a:r>
              <a:rPr lang="da-DK" dirty="0"/>
              <a:t>Med denne tilgang skal man så gentænke sine queries…</a:t>
            </a:r>
          </a:p>
          <a:p>
            <a:r>
              <a:rPr lang="da-DK" b="1" dirty="0"/>
              <a:t>SELECT * FROM </a:t>
            </a:r>
            <a:r>
              <a:rPr lang="da-DK" b="1" i="1" dirty="0"/>
              <a:t>(tabel)</a:t>
            </a:r>
            <a:r>
              <a:rPr lang="da-DK" b="1" dirty="0"/>
              <a:t> </a:t>
            </a:r>
            <a:r>
              <a:rPr lang="da-DK" dirty="0"/>
              <a:t>bliver typisk til </a:t>
            </a:r>
            <a:r>
              <a:rPr lang="da-DK" b="1" dirty="0"/>
              <a:t>SELECT * FROM </a:t>
            </a:r>
            <a:r>
              <a:rPr lang="da-DK" b="1" i="1" dirty="0"/>
              <a:t>(tabel)</a:t>
            </a:r>
            <a:r>
              <a:rPr lang="da-DK" b="1" dirty="0"/>
              <a:t> WHERE IsDeleted = false</a:t>
            </a:r>
          </a:p>
          <a:p>
            <a:r>
              <a:rPr lang="da-DK" b="1" dirty="0"/>
              <a:t>DELETE FROM </a:t>
            </a:r>
            <a:r>
              <a:rPr lang="da-DK" b="1" i="1" dirty="0"/>
              <a:t>(tabel)</a:t>
            </a:r>
            <a:r>
              <a:rPr lang="da-DK" b="1" dirty="0"/>
              <a:t> WHERE </a:t>
            </a:r>
            <a:r>
              <a:rPr lang="da-DK" b="1" i="1" dirty="0"/>
              <a:t>(betingelse) </a:t>
            </a:r>
            <a:r>
              <a:rPr lang="da-DK" b="1" dirty="0"/>
              <a:t>… </a:t>
            </a:r>
            <a:r>
              <a:rPr lang="da-DK" dirty="0"/>
              <a:t>bliver</a:t>
            </a:r>
            <a:r>
              <a:rPr lang="da-DK" b="1" dirty="0"/>
              <a:t> </a:t>
            </a:r>
            <a:r>
              <a:rPr lang="da-DK" dirty="0"/>
              <a:t>typisk til </a:t>
            </a:r>
            <a:r>
              <a:rPr lang="da-DK" b="1" dirty="0"/>
              <a:t>UPDATE </a:t>
            </a:r>
            <a:r>
              <a:rPr lang="da-DK" b="1" i="1" dirty="0"/>
              <a:t>(tabel)</a:t>
            </a:r>
            <a:r>
              <a:rPr lang="da-DK" b="1" dirty="0"/>
              <a:t> SET IsDeleted = true WHERE </a:t>
            </a:r>
            <a:r>
              <a:rPr lang="da-DK" b="1" i="1" dirty="0"/>
              <a:t>(betingelse)</a:t>
            </a:r>
          </a:p>
          <a:p>
            <a:r>
              <a:rPr lang="da-DK" dirty="0"/>
              <a:t>…og nu kan man </a:t>
            </a:r>
            <a:r>
              <a:rPr lang="da-DK" u="sng" dirty="0"/>
              <a:t>ikke</a:t>
            </a:r>
            <a:r>
              <a:rPr lang="da-DK" dirty="0"/>
              <a:t> længere lave ”Cascade Delete” blot ved at tilføje </a:t>
            </a:r>
            <a:r>
              <a:rPr lang="da-DK" b="1" dirty="0"/>
              <a:t>ON DELETE CASCADE </a:t>
            </a:r>
            <a:r>
              <a:rPr lang="da-DK" dirty="0"/>
              <a:t>i tabel-definitionen.</a:t>
            </a:r>
          </a:p>
        </p:txBody>
      </p:sp>
    </p:spTree>
    <p:extLst>
      <p:ext uri="{BB962C8B-B14F-4D97-AF65-F5344CB8AC3E}">
        <p14:creationId xmlns:p14="http://schemas.microsoft.com/office/powerpoint/2010/main" val="17172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29FF9-34C7-4F25-8D90-38BC23264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A72DB7-8ED3-4097-94E8-47FEC7247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1308"/>
          </a:xfrm>
        </p:spPr>
        <p:txBody>
          <a:bodyPr/>
          <a:lstStyle/>
          <a:p>
            <a:r>
              <a:rPr lang="da-DK" dirty="0"/>
              <a:t>Ønsker man en ”Cascade Soft Delete”-funktionalitet, må den</a:t>
            </a:r>
          </a:p>
          <a:p>
            <a:pPr lvl="1"/>
            <a:r>
              <a:rPr lang="da-DK" dirty="0"/>
              <a:t>Implementeres i applikationslogikken, eller</a:t>
            </a:r>
          </a:p>
          <a:p>
            <a:pPr lvl="1"/>
            <a:r>
              <a:rPr lang="da-DK" dirty="0"/>
              <a:t>Implementeres i databasen ved brug af såkaldte </a:t>
            </a:r>
            <a:r>
              <a:rPr lang="da-DK" b="1" dirty="0"/>
              <a:t>triggers</a:t>
            </a:r>
            <a:r>
              <a:rPr lang="da-DK" dirty="0"/>
              <a:t>.</a:t>
            </a:r>
          </a:p>
          <a:p>
            <a:r>
              <a:rPr lang="da-DK" dirty="0"/>
              <a:t>En </a:t>
            </a:r>
            <a:r>
              <a:rPr lang="da-DK" b="1" dirty="0"/>
              <a:t>trigger</a:t>
            </a:r>
            <a:r>
              <a:rPr lang="da-DK" dirty="0"/>
              <a:t> er – kort fortalt – en navngivet samling af </a:t>
            </a:r>
            <a:r>
              <a:rPr lang="da-DK" b="1" dirty="0"/>
              <a:t>SQL</a:t>
            </a:r>
            <a:r>
              <a:rPr lang="da-DK" dirty="0"/>
              <a:t> statements, som kan blive aktiveret når databasen ændrer tilstand (dvs. ved </a:t>
            </a:r>
            <a:r>
              <a:rPr lang="da-DK" b="1" dirty="0"/>
              <a:t>INSERT</a:t>
            </a:r>
            <a:r>
              <a:rPr lang="da-DK" dirty="0"/>
              <a:t>, </a:t>
            </a:r>
            <a:r>
              <a:rPr lang="da-DK" b="1" dirty="0"/>
              <a:t>DELETE</a:t>
            </a:r>
            <a:r>
              <a:rPr lang="da-DK" dirty="0"/>
              <a:t> eller </a:t>
            </a:r>
            <a:r>
              <a:rPr lang="da-DK" b="1" dirty="0"/>
              <a:t>UPDATE</a:t>
            </a:r>
            <a:r>
              <a:rPr lang="da-DK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8906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29FF9-34C7-4F25-8D90-38BC23264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A72DB7-8ED3-4097-94E8-47FEC7247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89600" cy="4541308"/>
          </a:xfrm>
        </p:spPr>
        <p:txBody>
          <a:bodyPr/>
          <a:lstStyle/>
          <a:p>
            <a:r>
              <a:rPr lang="da-DK" dirty="0"/>
              <a:t>Definition af en trigger rummer således:</a:t>
            </a:r>
          </a:p>
          <a:p>
            <a:pPr lvl="1"/>
            <a:r>
              <a:rPr lang="da-DK" dirty="0"/>
              <a:t>Navn</a:t>
            </a:r>
          </a:p>
          <a:p>
            <a:pPr lvl="1"/>
            <a:r>
              <a:rPr lang="da-DK" dirty="0"/>
              <a:t>Betingelser for aktivering</a:t>
            </a:r>
          </a:p>
          <a:p>
            <a:pPr lvl="1"/>
            <a:r>
              <a:rPr lang="da-DK" dirty="0"/>
              <a:t>Tabel denne trigger skal udføres på</a:t>
            </a:r>
          </a:p>
          <a:p>
            <a:pPr lvl="1"/>
            <a:r>
              <a:rPr lang="da-DK" dirty="0"/>
              <a:t>Statements der skal udføres</a:t>
            </a:r>
          </a:p>
          <a:p>
            <a:r>
              <a:rPr lang="da-DK" b="1" dirty="0">
                <a:solidFill>
                  <a:srgbClr val="FF0000"/>
                </a:solidFill>
              </a:rPr>
              <a:t>NB</a:t>
            </a:r>
            <a:r>
              <a:rPr lang="da-DK" dirty="0"/>
              <a:t>: Syntaks kan variere fra DBMS til DBMS, dette er kun et eksempel</a:t>
            </a:r>
          </a:p>
          <a:p>
            <a:pPr lvl="1"/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CA8BAD6F-7EA9-4B1B-BE6E-5D446999F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33243"/>
            <a:ext cx="4641164" cy="25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9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41A94-1247-46D1-BADB-DFEC439D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CB8A3F2-C496-4B1A-83D6-8A4328091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14375"/>
          </a:xfrm>
        </p:spPr>
        <p:txBody>
          <a:bodyPr/>
          <a:lstStyle/>
          <a:p>
            <a:r>
              <a:rPr lang="da-DK" dirty="0"/>
              <a:t>Simpel trigger: opdatér en </a:t>
            </a:r>
            <a:r>
              <a:rPr lang="da-DK" b="1" dirty="0"/>
              <a:t>LastChanged</a:t>
            </a:r>
            <a:r>
              <a:rPr lang="da-DK" dirty="0"/>
              <a:t>-kolonne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55B9CB6C-6663-4074-AD5B-519265139BDD}"/>
              </a:ext>
            </a:extLst>
          </p:cNvPr>
          <p:cNvSpPr txBox="1"/>
          <p:nvPr/>
        </p:nvSpPr>
        <p:spPr>
          <a:xfrm>
            <a:off x="838200" y="2954867"/>
            <a:ext cx="570540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NB: Syntaks varierer fra DBMS til DBMS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TRIGGER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UpdateLastChanged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BEFORE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Users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EACH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NEW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LastChanged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CURRENT_TIMESTAMP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719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41A94-1247-46D1-BADB-DFEC439D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CB8A3F2-C496-4B1A-83D6-8A4328091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14375"/>
          </a:xfrm>
        </p:spPr>
        <p:txBody>
          <a:bodyPr/>
          <a:lstStyle/>
          <a:p>
            <a:r>
              <a:rPr lang="da-DK" dirty="0"/>
              <a:t>Igangsæt en kaskade-effekt når en </a:t>
            </a:r>
            <a:r>
              <a:rPr lang="da-DK" b="1" dirty="0"/>
              <a:t>Kunde</a:t>
            </a:r>
            <a:r>
              <a:rPr lang="da-DK" dirty="0"/>
              <a:t> ”slettes”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55B9CB6C-6663-4074-AD5B-519265139BDD}"/>
              </a:ext>
            </a:extLst>
          </p:cNvPr>
          <p:cNvSpPr txBox="1"/>
          <p:nvPr/>
        </p:nvSpPr>
        <p:spPr>
          <a:xfrm>
            <a:off x="838200" y="2819400"/>
            <a:ext cx="853310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NB: Syntaks varierer fra DBMS til DBMS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TRIGGER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KundeCascade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AFTER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Kunde</a:t>
            </a: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EACH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NEW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IsDeleted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OLD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IsDeleted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Ordre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IsDeleted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KundeId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NEW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da-DK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da-DK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da-DK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664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777FB6-7119-48C7-B8B6-72EF3B09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Cascade Delete og Triggers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41477F4-0CC1-4212-9639-16E6D1102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16067" cy="4351338"/>
          </a:xfrm>
        </p:spPr>
        <p:txBody>
          <a:bodyPr/>
          <a:lstStyle/>
          <a:p>
            <a:r>
              <a:rPr lang="da-DK" dirty="0"/>
              <a:t>Triggers kan også bruges til </a:t>
            </a:r>
          </a:p>
          <a:p>
            <a:pPr lvl="1"/>
            <a:r>
              <a:rPr lang="da-DK" dirty="0"/>
              <a:t>Data-validering, f.eks. at en procent-værdi skal være mellem 0 og 100.</a:t>
            </a:r>
          </a:p>
          <a:p>
            <a:pPr lvl="1"/>
            <a:r>
              <a:rPr lang="da-DK" dirty="0"/>
              <a:t>At forhindre (uautoriseret) oprettelse/ændring af tabel-definitioner</a:t>
            </a:r>
          </a:p>
          <a:p>
            <a:r>
              <a:rPr lang="da-DK" dirty="0"/>
              <a:t>Det er bestemt et ”videregående” emne, og ift. brug af Soft Delete i projektet anbefaler jeg at man</a:t>
            </a:r>
          </a:p>
          <a:p>
            <a:pPr lvl="1"/>
            <a:r>
              <a:rPr lang="da-DK" dirty="0"/>
              <a:t>Overvejer om det overhovedet er noget man vil tage med</a:t>
            </a:r>
          </a:p>
          <a:p>
            <a:pPr lvl="1"/>
            <a:r>
              <a:rPr lang="da-DK" dirty="0"/>
              <a:t>I givet fald implementerer logikken i selv applikationen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8885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5FA7E8-D239-4317-BBF2-B2754894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Index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8D65862-BBFA-4637-9D88-345CC1679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0600" cy="4351338"/>
          </a:xfrm>
        </p:spPr>
        <p:txBody>
          <a:bodyPr/>
          <a:lstStyle/>
          <a:p>
            <a:r>
              <a:rPr lang="da-DK" dirty="0"/>
              <a:t>Når vi definerer en tabel, skal vi udpege </a:t>
            </a:r>
            <a:r>
              <a:rPr lang="da-DK" b="1" dirty="0"/>
              <a:t>primærnøglen</a:t>
            </a:r>
          </a:p>
          <a:p>
            <a:r>
              <a:rPr lang="da-DK" dirty="0"/>
              <a:t>Her betyder </a:t>
            </a:r>
            <a:r>
              <a:rPr lang="da-DK" b="1"/>
              <a:t>CLUSTERED</a:t>
            </a:r>
            <a:r>
              <a:rPr lang="da-DK" dirty="0"/>
              <a:t> at rækkerne i tabellen fysisk ordnes efter primær-nøglens værdi</a:t>
            </a:r>
          </a:p>
          <a:p>
            <a:r>
              <a:rPr lang="da-DK" dirty="0"/>
              <a:t>Hvorfor…? Gør det meget </a:t>
            </a:r>
            <a:r>
              <a:rPr lang="da-DK" u="sng" dirty="0"/>
              <a:t>effektivt</a:t>
            </a:r>
            <a:r>
              <a:rPr lang="da-DK" dirty="0"/>
              <a:t> at finde en række givet en nøgleværdi</a:t>
            </a:r>
          </a:p>
          <a:p>
            <a:r>
              <a:rPr lang="da-DK" dirty="0"/>
              <a:t>Lidt som at lave opslag i en </a:t>
            </a:r>
            <a:r>
              <a:rPr lang="da-DK" b="1" dirty="0"/>
              <a:t>Dictionary</a:t>
            </a:r>
            <a:r>
              <a:rPr lang="da-DK" dirty="0"/>
              <a:t> med en nøgleværdi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5AED917D-20A9-4ED7-AE99-F21C00E3E3E7}"/>
              </a:ext>
            </a:extLst>
          </p:cNvPr>
          <p:cNvSpPr txBox="1"/>
          <p:nvPr/>
        </p:nvSpPr>
        <p:spPr>
          <a:xfrm>
            <a:off x="7027334" y="2133600"/>
            <a:ext cx="47628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[Ordre]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[Id]     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[KundeId]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PRIMARY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KEY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CLUSTERED </a:t>
            </a:r>
            <a:r>
              <a:rPr lang="en-US" sz="12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[Id] </a:t>
            </a: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ASC</a:t>
            </a:r>
            <a:r>
              <a:rPr lang="en-US" sz="12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),</a:t>
            </a:r>
            <a:endParaRPr lang="en-US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sv-SE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sv-SE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sv-SE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[FK_Ordre_Kunde_KundeId] </a:t>
            </a:r>
            <a:r>
              <a:rPr lang="sv-SE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... Osv.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da-DK" sz="1200" dirty="0"/>
          </a:p>
        </p:txBody>
      </p:sp>
    </p:spTree>
    <p:extLst>
      <p:ext uri="{BB962C8B-B14F-4D97-AF65-F5344CB8AC3E}">
        <p14:creationId xmlns:p14="http://schemas.microsoft.com/office/powerpoint/2010/main" val="258536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5FA7E8-D239-4317-BBF2-B2754894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Index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8D65862-BBFA-4637-9D88-345CC1679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/>
          <a:lstStyle/>
          <a:p>
            <a:r>
              <a:rPr lang="da-DK" dirty="0"/>
              <a:t>Primærnøglen bliver dermed et </a:t>
            </a:r>
            <a:r>
              <a:rPr lang="da-DK" b="1" dirty="0"/>
              <a:t>index</a:t>
            </a:r>
            <a:r>
              <a:rPr lang="da-DK" dirty="0"/>
              <a:t> i tabellen, på den måde at det er meget effektivt at finde en række givet et index</a:t>
            </a:r>
          </a:p>
          <a:p>
            <a:r>
              <a:rPr lang="da-DK" dirty="0"/>
              <a:t>Dermed bliver f.eks. </a:t>
            </a:r>
            <a:r>
              <a:rPr lang="da-DK" b="1" dirty="0"/>
              <a:t>SELECT * FROM Ordre WHERE Id = 3 </a:t>
            </a:r>
            <a:r>
              <a:rPr lang="da-DK" dirty="0"/>
              <a:t>meget effektivt udført.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ABC96995-2811-447C-AB05-CE1FCAB1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710" y="1825625"/>
            <a:ext cx="3483690" cy="2703111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FBFB5CB1-7B89-427E-82AF-B33C838C4BDB}"/>
              </a:ext>
            </a:extLst>
          </p:cNvPr>
          <p:cNvSpPr/>
          <p:nvPr/>
        </p:nvSpPr>
        <p:spPr>
          <a:xfrm>
            <a:off x="8170333" y="1690688"/>
            <a:ext cx="1413934" cy="296597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0004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5FA7E8-D239-4317-BBF2-B2754894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Index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8D65862-BBFA-4637-9D88-345CC1679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36734" cy="4351338"/>
          </a:xfrm>
        </p:spPr>
        <p:txBody>
          <a:bodyPr/>
          <a:lstStyle/>
          <a:p>
            <a:r>
              <a:rPr lang="da-DK" dirty="0"/>
              <a:t>Dette antager jo, at vi ofte gerne vil udføre netop denne slags queries: </a:t>
            </a:r>
            <a:r>
              <a:rPr lang="da-DK" sz="2400" dirty="0"/>
              <a:t>(</a:t>
            </a:r>
            <a:r>
              <a:rPr lang="da-DK" sz="2400" b="1" dirty="0"/>
              <a:t>SELECT * FROM Ordre WHERE Id = …</a:t>
            </a:r>
            <a:r>
              <a:rPr lang="da-DK" sz="2400" dirty="0"/>
              <a:t>)</a:t>
            </a:r>
          </a:p>
          <a:p>
            <a:r>
              <a:rPr lang="da-DK" dirty="0"/>
              <a:t>Hvad nu hvis vi ofte har brug for (effektivt) at udføre denne query: </a:t>
            </a:r>
            <a:r>
              <a:rPr lang="da-DK" sz="2400" dirty="0"/>
              <a:t>(</a:t>
            </a:r>
            <a:r>
              <a:rPr lang="da-DK" sz="2400" b="1" dirty="0"/>
              <a:t>SELECT * FROM Ordre WHERE KundeId = …</a:t>
            </a:r>
            <a:r>
              <a:rPr lang="da-DK" sz="2400" dirty="0"/>
              <a:t>)</a:t>
            </a:r>
          </a:p>
          <a:p>
            <a:r>
              <a:rPr lang="da-DK" dirty="0"/>
              <a:t>I så fald kan vi definere yderligere et index relateret til </a:t>
            </a:r>
            <a:r>
              <a:rPr lang="da-DK" b="1" dirty="0"/>
              <a:t>KundeId</a:t>
            </a:r>
          </a:p>
          <a:p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ABC96995-2811-447C-AB05-CE1FCAB1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710" y="1825625"/>
            <a:ext cx="3483690" cy="2703111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FBFB5CB1-7B89-427E-82AF-B33C838C4BDB}"/>
              </a:ext>
            </a:extLst>
          </p:cNvPr>
          <p:cNvSpPr/>
          <p:nvPr/>
        </p:nvSpPr>
        <p:spPr>
          <a:xfrm>
            <a:off x="9601199" y="1696509"/>
            <a:ext cx="1413934" cy="296597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341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5FA7E8-D239-4317-BBF2-B2754894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Index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8D65862-BBFA-4637-9D88-345CC1679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0600" cy="4351338"/>
          </a:xfrm>
        </p:spPr>
        <p:txBody>
          <a:bodyPr/>
          <a:lstStyle/>
          <a:p>
            <a:r>
              <a:rPr lang="da-DK" dirty="0"/>
              <a:t>Nu defineres der yderligere et ”non-clustered” index, baseret på </a:t>
            </a:r>
            <a:r>
              <a:rPr lang="da-DK" b="1" dirty="0"/>
              <a:t>KundeId</a:t>
            </a:r>
            <a:r>
              <a:rPr lang="da-DK" dirty="0"/>
              <a:t>-kolonnen</a:t>
            </a:r>
          </a:p>
          <a:p>
            <a:r>
              <a:rPr lang="da-DK" dirty="0"/>
              <a:t>”Non-clustered” betyder blot, at dette index </a:t>
            </a:r>
            <a:r>
              <a:rPr lang="da-DK" u="sng" dirty="0"/>
              <a:t>ikke</a:t>
            </a:r>
            <a:r>
              <a:rPr lang="da-DK" dirty="0"/>
              <a:t> dikterer rækkernes fysiske orden.</a:t>
            </a:r>
          </a:p>
          <a:p>
            <a:r>
              <a:rPr lang="da-DK" dirty="0"/>
              <a:t>I stedet repræsenteres dette index i en separat struktur i databasen (som vi ikke behøver bekymre os om </a:t>
            </a:r>
            <a:r>
              <a:rPr lang="da-DK" dirty="0">
                <a:sym typeface="Wingdings" panose="05000000000000000000" pitchFamily="2" charset="2"/>
              </a:rPr>
              <a:t>)</a:t>
            </a:r>
            <a:endParaRPr lang="da-DK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08953DCB-0B18-4745-8EBC-38ECF135F1D7}"/>
              </a:ext>
            </a:extLst>
          </p:cNvPr>
          <p:cNvSpPr txBox="1"/>
          <p:nvPr/>
        </p:nvSpPr>
        <p:spPr>
          <a:xfrm>
            <a:off x="7027334" y="2133600"/>
            <a:ext cx="476284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[dbo]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[Ordre]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[Id]     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[KundeId] </a:t>
            </a:r>
            <a:r>
              <a:rPr lang="da-DK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da-DK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PRIMARY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KEY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CLUSTERED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[Id]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ASC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</a:rPr>
              <a:t>),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sv-SE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sv-SE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[FK_Ordre_Kunde_KundeId] </a:t>
            </a:r>
            <a:r>
              <a:rPr lang="sv-SE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... Osv.</a:t>
            </a:r>
          </a:p>
          <a:p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INDEX</a:t>
            </a:r>
            <a:r>
              <a:rPr lang="da-DK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IndexOrdreKundeId</a:t>
            </a:r>
            <a:r>
              <a:rPr lang="da-DK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da-DK" sz="12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</a:t>
            </a:r>
            <a:r>
              <a:rPr lang="da-DK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[KundeId]</a:t>
            </a:r>
            <a:r>
              <a:rPr lang="da-DK" sz="12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da-DK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da-DK" sz="1200" dirty="0"/>
          </a:p>
        </p:txBody>
      </p:sp>
    </p:spTree>
    <p:extLst>
      <p:ext uri="{BB962C8B-B14F-4D97-AF65-F5344CB8AC3E}">
        <p14:creationId xmlns:p14="http://schemas.microsoft.com/office/powerpoint/2010/main" val="181934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5FA7E8-D239-4317-BBF2-B2754894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Index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ABC96995-2811-447C-AB05-CE1FCAB1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710" y="1825625"/>
            <a:ext cx="3483690" cy="2703111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FBFB5CB1-7B89-427E-82AF-B33C838C4BDB}"/>
              </a:ext>
            </a:extLst>
          </p:cNvPr>
          <p:cNvSpPr/>
          <p:nvPr/>
        </p:nvSpPr>
        <p:spPr>
          <a:xfrm>
            <a:off x="9601199" y="1696509"/>
            <a:ext cx="1413934" cy="296597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D0FC5A40-FB8A-47F8-ACE9-4EF534E54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701944"/>
              </p:ext>
            </p:extLst>
          </p:nvPr>
        </p:nvGraphicFramePr>
        <p:xfrm>
          <a:off x="4055534" y="1825625"/>
          <a:ext cx="2455332" cy="2763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332">
                  <a:extLst>
                    <a:ext uri="{9D8B030D-6E8A-4147-A177-3AD203B41FA5}">
                      <a16:colId xmlns:a16="http://schemas.microsoft.com/office/drawing/2014/main" val="2717925297"/>
                    </a:ext>
                  </a:extLst>
                </a:gridCol>
              </a:tblGrid>
              <a:tr h="307034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IndexOrdreKundeId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094339"/>
                  </a:ext>
                </a:extLst>
              </a:tr>
              <a:tr h="307034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685352"/>
                  </a:ext>
                </a:extLst>
              </a:tr>
              <a:tr h="307034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268424"/>
                  </a:ext>
                </a:extLst>
              </a:tr>
              <a:tr h="307034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642234"/>
                  </a:ext>
                </a:extLst>
              </a:tr>
              <a:tr h="307034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956672"/>
                  </a:ext>
                </a:extLst>
              </a:tr>
              <a:tr h="307034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838232"/>
                  </a:ext>
                </a:extLst>
              </a:tr>
              <a:tr h="307034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169003"/>
                  </a:ext>
                </a:extLst>
              </a:tr>
              <a:tr h="307034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41716"/>
                  </a:ext>
                </a:extLst>
              </a:tr>
              <a:tr h="307034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198642"/>
                  </a:ext>
                </a:extLst>
              </a:tr>
            </a:tbl>
          </a:graphicData>
        </a:graphic>
      </p:graphicFrame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DBF9841C-19E9-47BF-9E9C-8EC73BFAAEFA}"/>
              </a:ext>
            </a:extLst>
          </p:cNvPr>
          <p:cNvCxnSpPr>
            <a:cxnSpLocks/>
          </p:cNvCxnSpPr>
          <p:nvPr/>
        </p:nvCxnSpPr>
        <p:spPr>
          <a:xfrm>
            <a:off x="6210300" y="2265892"/>
            <a:ext cx="1562100" cy="429683"/>
          </a:xfrm>
          <a:prstGeom prst="straightConnector1">
            <a:avLst/>
          </a:prstGeom>
          <a:ln>
            <a:solidFill>
              <a:srgbClr val="FF0000"/>
            </a:solidFill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0B417E7C-0CE6-41D5-85F9-3BABAE398AF5}"/>
              </a:ext>
            </a:extLst>
          </p:cNvPr>
          <p:cNvCxnSpPr>
            <a:cxnSpLocks/>
          </p:cNvCxnSpPr>
          <p:nvPr/>
        </p:nvCxnSpPr>
        <p:spPr>
          <a:xfrm>
            <a:off x="6252805" y="2609849"/>
            <a:ext cx="1562100" cy="429683"/>
          </a:xfrm>
          <a:prstGeom prst="straightConnector1">
            <a:avLst/>
          </a:prstGeom>
          <a:ln>
            <a:solidFill>
              <a:srgbClr val="FF0000"/>
            </a:solidFill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3329A9BC-F206-4F3A-9445-FF114D600933}"/>
              </a:ext>
            </a:extLst>
          </p:cNvPr>
          <p:cNvCxnSpPr>
            <a:cxnSpLocks/>
          </p:cNvCxnSpPr>
          <p:nvPr/>
        </p:nvCxnSpPr>
        <p:spPr>
          <a:xfrm>
            <a:off x="6295310" y="2920996"/>
            <a:ext cx="1477090" cy="648296"/>
          </a:xfrm>
          <a:prstGeom prst="straightConnector1">
            <a:avLst/>
          </a:prstGeom>
          <a:ln>
            <a:solidFill>
              <a:srgbClr val="FF0000"/>
            </a:solidFill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86826B43-4CB4-4C2E-8F80-DE4D938E184F}"/>
              </a:ext>
            </a:extLst>
          </p:cNvPr>
          <p:cNvCxnSpPr>
            <a:cxnSpLocks/>
          </p:cNvCxnSpPr>
          <p:nvPr/>
        </p:nvCxnSpPr>
        <p:spPr>
          <a:xfrm>
            <a:off x="6324944" y="3225203"/>
            <a:ext cx="1477090" cy="648296"/>
          </a:xfrm>
          <a:prstGeom prst="straightConnector1">
            <a:avLst/>
          </a:prstGeom>
          <a:ln>
            <a:solidFill>
              <a:srgbClr val="FF0000"/>
            </a:solidFill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98D21808-A362-4043-90E9-BE3CA6E884F6}"/>
              </a:ext>
            </a:extLst>
          </p:cNvPr>
          <p:cNvCxnSpPr>
            <a:cxnSpLocks/>
          </p:cNvCxnSpPr>
          <p:nvPr/>
        </p:nvCxnSpPr>
        <p:spPr>
          <a:xfrm flipV="1">
            <a:off x="6324944" y="3264953"/>
            <a:ext cx="1456266" cy="225130"/>
          </a:xfrm>
          <a:prstGeom prst="straightConnector1">
            <a:avLst/>
          </a:prstGeom>
          <a:ln>
            <a:solidFill>
              <a:srgbClr val="FF0000"/>
            </a:solidFill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3BAFAA39-4866-4391-A699-A86B1BFF0753}"/>
              </a:ext>
            </a:extLst>
          </p:cNvPr>
          <p:cNvCxnSpPr>
            <a:cxnSpLocks/>
          </p:cNvCxnSpPr>
          <p:nvPr/>
        </p:nvCxnSpPr>
        <p:spPr>
          <a:xfrm>
            <a:off x="6335356" y="3841661"/>
            <a:ext cx="1437044" cy="614115"/>
          </a:xfrm>
          <a:prstGeom prst="straightConnector1">
            <a:avLst/>
          </a:prstGeom>
          <a:ln>
            <a:solidFill>
              <a:srgbClr val="FF0000"/>
            </a:solidFill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BD6A0455-A52D-4C6F-922B-A47622533D60}"/>
              </a:ext>
            </a:extLst>
          </p:cNvPr>
          <p:cNvCxnSpPr>
            <a:cxnSpLocks/>
          </p:cNvCxnSpPr>
          <p:nvPr/>
        </p:nvCxnSpPr>
        <p:spPr>
          <a:xfrm flipV="1">
            <a:off x="6332266" y="2358820"/>
            <a:ext cx="1440134" cy="1787048"/>
          </a:xfrm>
          <a:prstGeom prst="straightConnector1">
            <a:avLst/>
          </a:prstGeom>
          <a:ln>
            <a:solidFill>
              <a:srgbClr val="FF0000"/>
            </a:solidFill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60DC7781-0DC0-4D0D-81BA-9DAB74BF0FDC}"/>
              </a:ext>
            </a:extLst>
          </p:cNvPr>
          <p:cNvCxnSpPr>
            <a:cxnSpLocks/>
          </p:cNvCxnSpPr>
          <p:nvPr/>
        </p:nvCxnSpPr>
        <p:spPr>
          <a:xfrm flipV="1">
            <a:off x="6324944" y="4103691"/>
            <a:ext cx="1447456" cy="319177"/>
          </a:xfrm>
          <a:prstGeom prst="straightConnector1">
            <a:avLst/>
          </a:prstGeom>
          <a:ln>
            <a:solidFill>
              <a:srgbClr val="FF0000"/>
            </a:solidFill>
            <a:tailEnd type="arrow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91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5FA7E8-D239-4317-BBF2-B2754894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Index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8D65862-BBFA-4637-9D88-345CC1679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89067" cy="4351338"/>
          </a:xfrm>
        </p:spPr>
        <p:txBody>
          <a:bodyPr/>
          <a:lstStyle/>
          <a:p>
            <a:r>
              <a:rPr lang="da-DK" dirty="0"/>
              <a:t>Index på andre kolonner end primærnøglen er kun relevant når</a:t>
            </a:r>
          </a:p>
          <a:p>
            <a:pPr lvl="1"/>
            <a:r>
              <a:rPr lang="da-DK" dirty="0"/>
              <a:t>Der ofte skal køres queries hvor </a:t>
            </a:r>
            <a:r>
              <a:rPr lang="da-DK" b="1" dirty="0"/>
              <a:t>WHERE</a:t>
            </a:r>
            <a:r>
              <a:rPr lang="da-DK" dirty="0"/>
              <a:t> refererer direkte til kolonnen (eller den benyttes i </a:t>
            </a:r>
            <a:r>
              <a:rPr lang="da-DK" b="1" dirty="0"/>
              <a:t>JOIN</a:t>
            </a:r>
            <a:r>
              <a:rPr lang="da-DK" dirty="0"/>
              <a:t>-betingelser)</a:t>
            </a:r>
          </a:p>
          <a:p>
            <a:pPr lvl="1"/>
            <a:r>
              <a:rPr lang="da-DK" dirty="0"/>
              <a:t>Der er mange mulige værdi for kolonnen (f.eks. </a:t>
            </a:r>
            <a:r>
              <a:rPr lang="da-DK" u="sng" dirty="0"/>
              <a:t>ikke</a:t>
            </a:r>
            <a:r>
              <a:rPr lang="da-DK" dirty="0"/>
              <a:t> en </a:t>
            </a:r>
            <a:r>
              <a:rPr lang="da-DK" i="1" dirty="0"/>
              <a:t>enum</a:t>
            </a:r>
            <a:r>
              <a:rPr lang="da-DK" dirty="0"/>
              <a:t>-agtig type der kun kan være 0, 1, 2 eller 3)</a:t>
            </a:r>
          </a:p>
          <a:p>
            <a:pPr lvl="1"/>
            <a:r>
              <a:rPr lang="da-DK" dirty="0"/>
              <a:t>Tabellen rummer et stort (1000+) antal rækker</a:t>
            </a:r>
          </a:p>
          <a:p>
            <a:r>
              <a:rPr lang="da-DK" dirty="0"/>
              <a:t>Specielt det sidste gør det ikke så relevant ift. projektet, men man må da gerne tænke over det </a:t>
            </a:r>
            <a:r>
              <a:rPr lang="da-DK" dirty="0">
                <a:sym typeface="Wingdings" panose="05000000000000000000" pitchFamily="2" charset="2"/>
              </a:rPr>
              <a:t>.</a:t>
            </a: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222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4940</TotalTime>
  <Words>3230</Words>
  <Application>Microsoft Office PowerPoint</Application>
  <PresentationFormat>Widescreen</PresentationFormat>
  <Paragraphs>486</Paragraphs>
  <Slides>66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66</vt:i4>
      </vt:variant>
    </vt:vector>
  </HeadingPairs>
  <TitlesOfParts>
    <vt:vector size="72" baseType="lpstr">
      <vt:lpstr>Arial</vt:lpstr>
      <vt:lpstr>Calibri</vt:lpstr>
      <vt:lpstr>Calibri Light</vt:lpstr>
      <vt:lpstr>Cascadia Mono</vt:lpstr>
      <vt:lpstr>Wingdings</vt:lpstr>
      <vt:lpstr>Office-tema</vt:lpstr>
      <vt:lpstr>Databaser  SQL - Supplerende</vt:lpstr>
      <vt:lpstr>SQL JOIN</vt:lpstr>
      <vt:lpstr>PowerPoint-præsentation</vt:lpstr>
      <vt:lpstr>SQL JOIN</vt:lpstr>
      <vt:lpstr>PowerPoint-præsentation</vt:lpstr>
      <vt:lpstr>PowerPoint-præsentation</vt:lpstr>
      <vt:lpstr>JOIN (aka INNER JOIN)</vt:lpstr>
      <vt:lpstr>JOIN (aka INNER JOIN)</vt:lpstr>
      <vt:lpstr>JOIN (aka INNER JOIN)</vt:lpstr>
      <vt:lpstr>JOIN (aka INNER JOIN)</vt:lpstr>
      <vt:lpstr>LEFT JOIN (aka LEFT OUTER JOIN)</vt:lpstr>
      <vt:lpstr>LEFT JOIN (aka LEFT OUTER JOIN)</vt:lpstr>
      <vt:lpstr>LEFT JOIN (aka LEFT OUTER JOIN)</vt:lpstr>
      <vt:lpstr>RIGHT JOIN (aka RIGHT OUTER JOIN)</vt:lpstr>
      <vt:lpstr>FULL JOIN</vt:lpstr>
      <vt:lpstr>PowerPoint-præsentation</vt:lpstr>
      <vt:lpstr>JOIN</vt:lpstr>
      <vt:lpstr>JOIN</vt:lpstr>
      <vt:lpstr>JOIN</vt:lpstr>
      <vt:lpstr>JOIN</vt:lpstr>
      <vt:lpstr>JOIN</vt:lpstr>
      <vt:lpstr>JOIN</vt:lpstr>
      <vt:lpstr>JOIN</vt:lpstr>
      <vt:lpstr>Views</vt:lpstr>
      <vt:lpstr>Views</vt:lpstr>
      <vt:lpstr>View</vt:lpstr>
      <vt:lpstr>View</vt:lpstr>
      <vt:lpstr>View</vt:lpstr>
      <vt:lpstr>View</vt:lpstr>
      <vt:lpstr>Views</vt:lpstr>
      <vt:lpstr>Views</vt:lpstr>
      <vt:lpstr>Auto-generering af primærnøgle</vt:lpstr>
      <vt:lpstr>Auto-generering af primærnøgle</vt:lpstr>
      <vt:lpstr>Auto-generering af primærnøgle</vt:lpstr>
      <vt:lpstr>Auto-generering af primærnøgle</vt:lpstr>
      <vt:lpstr>Auto-generering af primærnøgle</vt:lpstr>
      <vt:lpstr>Transaktioner</vt:lpstr>
      <vt:lpstr>Transaktioner</vt:lpstr>
      <vt:lpstr>Transaktioner</vt:lpstr>
      <vt:lpstr>Transaktioner</vt:lpstr>
      <vt:lpstr>Transaktioner</vt:lpstr>
      <vt:lpstr>Transaktioner</vt:lpstr>
      <vt:lpstr>Transaktioner</vt:lpstr>
      <vt:lpstr>Transaktioner</vt:lpstr>
      <vt:lpstr>Transaktioner</vt:lpstr>
      <vt:lpstr>Transaktioner</vt:lpstr>
      <vt:lpstr>Transaktioner</vt:lpstr>
      <vt:lpstr>Transaktioner</vt:lpstr>
      <vt:lpstr>Cascade Delete og Triggers</vt:lpstr>
      <vt:lpstr>Cascade Delete og Triggers</vt:lpstr>
      <vt:lpstr>Cascade Delete og Triggers</vt:lpstr>
      <vt:lpstr>Cascade Delete og Triggers</vt:lpstr>
      <vt:lpstr>Cascade Delete og Triggers</vt:lpstr>
      <vt:lpstr>Cascade Delete og Triggers</vt:lpstr>
      <vt:lpstr>Cascade Delete og Triggers</vt:lpstr>
      <vt:lpstr>Cascade Delete og Triggers</vt:lpstr>
      <vt:lpstr>Cascade Delete og Triggers</vt:lpstr>
      <vt:lpstr>Cascade Delete og Triggers</vt:lpstr>
      <vt:lpstr>Cascade Delete og Triggers</vt:lpstr>
      <vt:lpstr>Cascade Delete og Triggers</vt:lpstr>
      <vt:lpstr>Index</vt:lpstr>
      <vt:lpstr>Index</vt:lpstr>
      <vt:lpstr>Index</vt:lpstr>
      <vt:lpstr>Index</vt:lpstr>
      <vt:lpstr>Index</vt:lpstr>
      <vt:lpstr>Index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216</cp:revision>
  <dcterms:created xsi:type="dcterms:W3CDTF">2017-09-05T14:00:27Z</dcterms:created>
  <dcterms:modified xsi:type="dcterms:W3CDTF">2026-04-06T18:15:05Z</dcterms:modified>
</cp:coreProperties>
</file>