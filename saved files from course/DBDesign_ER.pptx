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95" r:id="rId3"/>
    <p:sldId id="259" r:id="rId4"/>
    <p:sldId id="436" r:id="rId5"/>
    <p:sldId id="439" r:id="rId6"/>
    <p:sldId id="441" r:id="rId7"/>
    <p:sldId id="440" r:id="rId8"/>
    <p:sldId id="437" r:id="rId9"/>
    <p:sldId id="442" r:id="rId10"/>
    <p:sldId id="453" r:id="rId11"/>
    <p:sldId id="454" r:id="rId12"/>
    <p:sldId id="432" r:id="rId13"/>
    <p:sldId id="445" r:id="rId14"/>
    <p:sldId id="444" r:id="rId15"/>
    <p:sldId id="446" r:id="rId16"/>
    <p:sldId id="447" r:id="rId17"/>
    <p:sldId id="448" r:id="rId18"/>
    <p:sldId id="449" r:id="rId19"/>
    <p:sldId id="450" r:id="rId20"/>
    <p:sldId id="451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rgbClr val="C00000"/>
        </a:solidFill>
      </dgm:spPr>
      <dgm:t>
        <a:bodyPr/>
        <a:lstStyle/>
        <a:p>
          <a:pPr algn="ctr"/>
          <a:r>
            <a:rPr lang="da-DK" sz="32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 dirty="0"/>
        </a:p>
      </dgm:t>
    </dgm:pt>
    <dgm:pt modelId="{6BD10B1D-65DD-4569-B773-22F4EBB26269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ER-model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 dirty="0"/>
        </a:p>
      </dgm:t>
    </dgm:pt>
    <dgm:pt modelId="{91C03CD3-DB29-4FCE-B074-4B319653C763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Database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Fact Finding</a:t>
          </a:r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 dirty="0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da-DK" sz="28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 dirty="0"/>
        </a:p>
      </dgm:t>
    </dgm:pt>
    <dgm:pt modelId="{6BD10B1D-65DD-4569-B773-22F4EBB26269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2000" dirty="0"/>
            <a:t>Object-Oriented</a:t>
          </a:r>
        </a:p>
        <a:p>
          <a:r>
            <a:rPr lang="da-DK" sz="2000" dirty="0"/>
            <a:t>Domain 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 dirty="0"/>
        </a:p>
      </dgm:t>
    </dgm:pt>
    <dgm:pt modelId="{91C03CD3-DB29-4FCE-B074-4B319653C763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Relational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2800" dirty="0"/>
            <a:t>User Stories, etc.</a:t>
          </a:r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 dirty="0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rgbClr val="C00000"/>
        </a:solidFill>
      </dgm:spPr>
      <dgm:t>
        <a:bodyPr/>
        <a:lstStyle/>
        <a:p>
          <a:pPr algn="ctr"/>
          <a:r>
            <a:rPr lang="da-DK" sz="32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 dirty="0"/>
        </a:p>
      </dgm:t>
    </dgm:pt>
    <dgm:pt modelId="{6BD10B1D-65DD-4569-B773-22F4EBB26269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ER-model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 dirty="0"/>
        </a:p>
      </dgm:t>
    </dgm:pt>
    <dgm:pt modelId="{F4881520-2218-4639-B108-6FB2DF0920B8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Fact Finding</a:t>
          </a:r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 dirty="0"/>
        </a:p>
      </dgm:t>
    </dgm:pt>
    <dgm:pt modelId="{91C03CD3-DB29-4FCE-B074-4B319653C763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/>
            <a:t>Relational model</a:t>
          </a:r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Fact Finding</a:t>
          </a:r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ER-model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Database model</a:t>
          </a:r>
        </a:p>
      </dsp:txBody>
      <dsp:txXfrm>
        <a:off x="9427737" y="462594"/>
        <a:ext cx="2155610" cy="1261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User Stories, etc.</a:t>
          </a:r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Object-Oriented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Domain 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Relational model</a:t>
          </a:r>
        </a:p>
      </dsp:txBody>
      <dsp:txXfrm>
        <a:off x="9427737" y="462594"/>
        <a:ext cx="2155610" cy="1261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Fact Finding</a:t>
          </a:r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ER-model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 dirty="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Relational model</a:t>
          </a:r>
        </a:p>
      </dsp:txBody>
      <dsp:txXfrm>
        <a:off x="9427737" y="462594"/>
        <a:ext cx="2155610" cy="1261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06-04-2026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4"/>
            <a:ext cx="9144000" cy="3976777"/>
          </a:xfrm>
        </p:spPr>
        <p:txBody>
          <a:bodyPr>
            <a:normAutofit/>
          </a:bodyPr>
          <a:lstStyle/>
          <a:p>
            <a:r>
              <a:rPr lang="da-DK" sz="9600" b="1" dirty="0"/>
              <a:t>Databaser</a:t>
            </a:r>
            <a:br>
              <a:rPr lang="da-DK" sz="9600" b="1" dirty="0"/>
            </a:br>
            <a:br>
              <a:rPr lang="da-DK" sz="9600" dirty="0"/>
            </a:br>
            <a:r>
              <a:rPr lang="da-DK" dirty="0"/>
              <a:t>ER-diagrammer</a:t>
            </a:r>
            <a:endParaRPr lang="da-DK" sz="9600" dirty="0"/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Klassisk Database Design Proces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(Fra </a:t>
            </a:r>
            <a:r>
              <a:rPr lang="da-DK" b="1" dirty="0"/>
              <a:t>DBDesign</a:t>
            </a:r>
            <a:r>
              <a:rPr lang="da-DK" dirty="0"/>
              <a:t>):</a:t>
            </a:r>
          </a:p>
          <a:p>
            <a:pPr lvl="1"/>
            <a:r>
              <a:rPr lang="da-DK" b="1" dirty="0"/>
              <a:t>Fact-finding</a:t>
            </a:r>
          </a:p>
          <a:p>
            <a:pPr lvl="1"/>
            <a:r>
              <a:rPr lang="da-DK" b="1" dirty="0"/>
              <a:t>Entity-Relationship (ER) Modeling</a:t>
            </a:r>
          </a:p>
          <a:p>
            <a:pPr lvl="1"/>
            <a:r>
              <a:rPr lang="da-DK" b="1" dirty="0"/>
              <a:t>Table Creation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9765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305115665"/>
              </p:ext>
            </p:extLst>
          </p:nvPr>
        </p:nvGraphicFramePr>
        <p:xfrm>
          <a:off x="339810" y="2292178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1">
            <a:extLst>
              <a:ext uri="{FF2B5EF4-FFF2-40B4-BE49-F238E27FC236}">
                <a16:creationId xmlns:a16="http://schemas.microsoft.com/office/drawing/2014/main" id="{09D539BF-670E-416A-BB16-B7CC2A4C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Klassisk Database Design Proces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75824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6E2F3-7CB3-4FD7-AB0B-CC6D9FF7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ER-modellering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98F095-12A0-4983-A8A8-8D80D7BC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Ret tæt på en Objekt-Orienteret </a:t>
            </a:r>
            <a:r>
              <a:rPr lang="da-DK" b="1" dirty="0"/>
              <a:t>Domæne-model</a:t>
            </a:r>
          </a:p>
          <a:p>
            <a:r>
              <a:rPr lang="da-DK" dirty="0"/>
              <a:t>Man kan dog </a:t>
            </a:r>
            <a:r>
              <a:rPr lang="da-DK" u="sng" dirty="0"/>
              <a:t>ikke</a:t>
            </a:r>
            <a:r>
              <a:rPr lang="da-DK" dirty="0"/>
              <a:t> (nemt) modellere </a:t>
            </a:r>
            <a:r>
              <a:rPr lang="da-DK" u="sng" dirty="0"/>
              <a:t>nedarvning</a:t>
            </a:r>
            <a:r>
              <a:rPr lang="da-DK" dirty="0"/>
              <a:t>!</a:t>
            </a:r>
          </a:p>
          <a:p>
            <a:r>
              <a:rPr lang="da-DK" b="1" dirty="0"/>
              <a:t>Entiteter</a:t>
            </a:r>
            <a:r>
              <a:rPr lang="da-DK" dirty="0"/>
              <a:t> = Klasser</a:t>
            </a:r>
          </a:p>
          <a:p>
            <a:r>
              <a:rPr lang="da-DK" b="1" dirty="0"/>
              <a:t>Relationer</a:t>
            </a:r>
            <a:r>
              <a:rPr lang="da-DK" dirty="0"/>
              <a:t> = Associationer</a:t>
            </a:r>
          </a:p>
          <a:p>
            <a:r>
              <a:rPr lang="da-DK" b="1" dirty="0"/>
              <a:t>NB: </a:t>
            </a:r>
            <a:r>
              <a:rPr lang="da-DK" dirty="0"/>
              <a:t>Man kan have flere ”niveauer” af ER-diagrammer</a:t>
            </a:r>
          </a:p>
          <a:p>
            <a:pPr lvl="1"/>
            <a:r>
              <a:rPr lang="da-DK" dirty="0"/>
              <a:t>Konceptuel</a:t>
            </a:r>
          </a:p>
          <a:p>
            <a:pPr lvl="1"/>
            <a:r>
              <a:rPr lang="da-DK" dirty="0"/>
              <a:t>Logisk</a:t>
            </a:r>
          </a:p>
          <a:p>
            <a:pPr lvl="1"/>
            <a:r>
              <a:rPr lang="da-DK" dirty="0"/>
              <a:t>Fysisk</a:t>
            </a:r>
          </a:p>
        </p:txBody>
      </p:sp>
    </p:spTree>
    <p:extLst>
      <p:ext uri="{BB962C8B-B14F-4D97-AF65-F5344CB8AC3E}">
        <p14:creationId xmlns:p14="http://schemas.microsoft.com/office/powerpoint/2010/main" val="253263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A290A70-FCD7-45FE-876B-F84C4B99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723522"/>
            <a:ext cx="6001588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1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6E2F3-7CB3-4FD7-AB0B-CC6D9FF7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ER-diagrammer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98F095-12A0-4983-A8A8-8D80D7BC1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9668" cy="4566708"/>
          </a:xfrm>
        </p:spPr>
        <p:txBody>
          <a:bodyPr>
            <a:normAutofit/>
          </a:bodyPr>
          <a:lstStyle/>
          <a:p>
            <a:r>
              <a:rPr lang="da-DK" dirty="0"/>
              <a:t>Der findes flere varianter af notation i ER-diagrammer, mest almindelige er </a:t>
            </a:r>
            <a:r>
              <a:rPr lang="da-DK" b="1" dirty="0"/>
              <a:t>”Crows Foot”</a:t>
            </a:r>
            <a:r>
              <a:rPr lang="da-DK" dirty="0"/>
              <a:t>-notationen</a:t>
            </a:r>
          </a:p>
          <a:p>
            <a:pPr lvl="1"/>
            <a:r>
              <a:rPr lang="da-DK" dirty="0"/>
              <a:t>Entiteter vises som </a:t>
            </a:r>
            <a:r>
              <a:rPr lang="da-DK" u="sng" dirty="0"/>
              <a:t>kasser</a:t>
            </a:r>
          </a:p>
          <a:p>
            <a:pPr lvl="1"/>
            <a:r>
              <a:rPr lang="da-DK" dirty="0"/>
              <a:t>Relationer vises som </a:t>
            </a:r>
            <a:r>
              <a:rPr lang="da-DK" u="sng" dirty="0"/>
              <a:t>linjer</a:t>
            </a:r>
            <a:r>
              <a:rPr lang="da-DK" dirty="0"/>
              <a:t> mellem kasser, hvor hvert endepunkt angiver </a:t>
            </a:r>
            <a:r>
              <a:rPr lang="da-DK" u="sng" dirty="0"/>
              <a:t>typen</a:t>
            </a:r>
            <a:r>
              <a:rPr lang="da-DK" dirty="0"/>
              <a:t> af relation</a:t>
            </a:r>
          </a:p>
          <a:p>
            <a:pPr lvl="1"/>
            <a:r>
              <a:rPr lang="da-DK" dirty="0"/>
              <a:t>Man kan også godt bruge tal-notation, hvis man er mere tryg ved den (1, 0..1, 0..*, 1..*, osv..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E3F0A8F-4197-47E4-B723-73F0B5229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286" y="1540933"/>
            <a:ext cx="4379981" cy="361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3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6E2F3-7CB3-4FD7-AB0B-CC6D9FF7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ER-diagrammer (konceptuelt)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24B9B38-0660-4650-BEC8-AA5D2AE49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00" y="2476367"/>
            <a:ext cx="6982799" cy="1905266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60891C2B-3A99-4E88-BE14-3BD8BD2629C9}"/>
              </a:ext>
            </a:extLst>
          </p:cNvPr>
          <p:cNvSpPr txBox="1"/>
          <p:nvPr/>
        </p:nvSpPr>
        <p:spPr>
          <a:xfrm>
            <a:off x="10049933" y="4388591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/>
              <a:t>Lavet med </a:t>
            </a:r>
            <a:r>
              <a:rPr lang="da-DK" b="1" i="1" dirty="0"/>
              <a:t>draw.io</a:t>
            </a:r>
          </a:p>
        </p:txBody>
      </p:sp>
    </p:spTree>
    <p:extLst>
      <p:ext uri="{BB962C8B-B14F-4D97-AF65-F5344CB8AC3E}">
        <p14:creationId xmlns:p14="http://schemas.microsoft.com/office/powerpoint/2010/main" val="166768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6E2F3-7CB3-4FD7-AB0B-CC6D9FF7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ER-diagrammer (logisk)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98F095-12A0-4983-A8A8-8D80D7BC1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1544108"/>
          </a:xfrm>
        </p:spPr>
        <p:txBody>
          <a:bodyPr/>
          <a:lstStyle/>
          <a:p>
            <a:r>
              <a:rPr lang="da-DK" b="1" dirty="0"/>
              <a:t>Attributter</a:t>
            </a:r>
            <a:r>
              <a:rPr lang="da-DK" dirty="0"/>
              <a:t> er medtaget, dog uden typer</a:t>
            </a:r>
          </a:p>
          <a:p>
            <a:r>
              <a:rPr lang="da-DK" dirty="0"/>
              <a:t>Det angives om en attribut er </a:t>
            </a:r>
            <a:r>
              <a:rPr lang="da-DK" b="1" dirty="0"/>
              <a:t>primærnøgle</a:t>
            </a:r>
            <a:r>
              <a:rPr lang="da-DK" dirty="0"/>
              <a:t> og/eller </a:t>
            </a:r>
            <a:r>
              <a:rPr lang="da-DK" b="1" dirty="0"/>
              <a:t>fremmednøgle</a:t>
            </a:r>
          </a:p>
          <a:p>
            <a:r>
              <a:rPr lang="da-DK" i="1" dirty="0"/>
              <a:t>Mange-til-mange</a:t>
            </a:r>
            <a:r>
              <a:rPr lang="da-DK" dirty="0"/>
              <a:t> relationer modelleres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040B1B92-4F5A-4D9E-A018-99C353A599F0}"/>
              </a:ext>
            </a:extLst>
          </p:cNvPr>
          <p:cNvSpPr txBox="1"/>
          <p:nvPr/>
        </p:nvSpPr>
        <p:spPr>
          <a:xfrm>
            <a:off x="10007600" y="6123543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/>
              <a:t>Lavet med </a:t>
            </a:r>
            <a:r>
              <a:rPr lang="da-DK" b="1" i="1" dirty="0"/>
              <a:t>draw.io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69ACC0A-7F8E-46C2-A6FC-F587471E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594" y="3755749"/>
            <a:ext cx="7809379" cy="196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53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6E2F3-7CB3-4FD7-AB0B-CC6D9FF7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ER-diagrammer (fysisk)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98F095-12A0-4983-A8A8-8D80D7BC1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1942042"/>
          </a:xfrm>
        </p:spPr>
        <p:txBody>
          <a:bodyPr>
            <a:normAutofit/>
          </a:bodyPr>
          <a:lstStyle/>
          <a:p>
            <a:r>
              <a:rPr lang="da-DK" sz="2400" b="1" dirty="0"/>
              <a:t>Typer </a:t>
            </a:r>
            <a:r>
              <a:rPr lang="da-DK" sz="2400" dirty="0"/>
              <a:t>for attributter er medtaget</a:t>
            </a:r>
          </a:p>
          <a:p>
            <a:r>
              <a:rPr lang="da-DK" sz="2400" dirty="0"/>
              <a:t>En kasse er nu en </a:t>
            </a:r>
            <a:r>
              <a:rPr lang="da-DK" sz="2400" b="1" dirty="0"/>
              <a:t>tabel</a:t>
            </a:r>
            <a:r>
              <a:rPr lang="da-DK" sz="2400" dirty="0"/>
              <a:t> med </a:t>
            </a:r>
            <a:r>
              <a:rPr lang="da-DK" sz="2400" b="1" dirty="0"/>
              <a:t>kolonner</a:t>
            </a:r>
          </a:p>
          <a:p>
            <a:r>
              <a:rPr lang="da-DK" sz="2400" i="1" dirty="0"/>
              <a:t>Mange-til-mange</a:t>
            </a:r>
            <a:r>
              <a:rPr lang="da-DK" sz="2400" dirty="0"/>
              <a:t> relationer opløses, og der indføres ”mellemtabeller”</a:t>
            </a:r>
          </a:p>
          <a:p>
            <a:r>
              <a:rPr lang="da-DK" sz="2400" dirty="0"/>
              <a:t>Man kan også medtage f.eks. ”not null”-krav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040B1B92-4F5A-4D9E-A018-99C353A599F0}"/>
              </a:ext>
            </a:extLst>
          </p:cNvPr>
          <p:cNvSpPr txBox="1"/>
          <p:nvPr/>
        </p:nvSpPr>
        <p:spPr>
          <a:xfrm>
            <a:off x="10007600" y="6123543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/>
              <a:t>Lavet med </a:t>
            </a:r>
            <a:r>
              <a:rPr lang="da-DK" b="1" i="1" dirty="0"/>
              <a:t>draw.io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D1DD6F5-FD68-41CA-B308-A9098AC4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533" y="4016171"/>
            <a:ext cx="6510027" cy="2476704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03D06D71-2FD7-46A1-AB5C-1AA5480E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667" y="5615925"/>
            <a:ext cx="3115731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9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0C83A-843A-47AA-810F-B70A39E2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Værktøjer til ER-diagrammer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643894-06C6-4696-8902-78AC245D1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(Web) </a:t>
            </a:r>
            <a:r>
              <a:rPr lang="da-DK" b="1" dirty="0"/>
              <a:t>draw.io</a:t>
            </a:r>
            <a:r>
              <a:rPr lang="da-DK" dirty="0"/>
              <a:t>: </a:t>
            </a:r>
          </a:p>
          <a:p>
            <a:pPr lvl="1"/>
            <a:r>
              <a:rPr lang="da-DK" dirty="0"/>
              <a:t>Let at komme i gang med</a:t>
            </a:r>
          </a:p>
          <a:p>
            <a:pPr lvl="1"/>
            <a:r>
              <a:rPr lang="da-DK" dirty="0"/>
              <a:t>ER-diagrammer ”indbygget”</a:t>
            </a:r>
          </a:p>
          <a:p>
            <a:r>
              <a:rPr lang="da-DK" dirty="0"/>
              <a:t>(Web) </a:t>
            </a:r>
            <a:r>
              <a:rPr lang="da-DK" b="1" dirty="0"/>
              <a:t>dbdiagram.io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Ret let at komme i gang med (bruger </a:t>
            </a:r>
            <a:r>
              <a:rPr lang="da-DK" b="1" dirty="0"/>
              <a:t>DBML</a:t>
            </a:r>
            <a:r>
              <a:rPr lang="da-DK" dirty="0"/>
              <a:t> til tekst-definitioner af designs)</a:t>
            </a:r>
          </a:p>
          <a:p>
            <a:pPr lvl="1"/>
            <a:r>
              <a:rPr lang="da-DK" dirty="0"/>
              <a:t>Bedst til logiske/fysiske ER-diagrammer</a:t>
            </a:r>
          </a:p>
          <a:p>
            <a:r>
              <a:rPr lang="da-DK" dirty="0"/>
              <a:t>(App) </a:t>
            </a:r>
            <a:r>
              <a:rPr lang="da-DK" b="1" dirty="0"/>
              <a:t>MySQL Workbench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Skal installeres, lidt tungt at komme i gang med</a:t>
            </a:r>
          </a:p>
          <a:p>
            <a:pPr lvl="1"/>
            <a:r>
              <a:rPr lang="da-DK" dirty="0"/>
              <a:t>Kan ”alt”, på godt og ondt…</a:t>
            </a:r>
          </a:p>
        </p:txBody>
      </p:sp>
    </p:spTree>
    <p:extLst>
      <p:ext uri="{BB962C8B-B14F-4D97-AF65-F5344CB8AC3E}">
        <p14:creationId xmlns:p14="http://schemas.microsoft.com/office/powerpoint/2010/main" val="364592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0C83A-843A-47AA-810F-B70A39E2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Værktøjer til ER-diagrammer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643894-06C6-4696-8902-78AC245D1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22933" cy="4351338"/>
          </a:xfrm>
        </p:spPr>
        <p:txBody>
          <a:bodyPr/>
          <a:lstStyle/>
          <a:p>
            <a:r>
              <a:rPr lang="da-DK" dirty="0"/>
              <a:t>Man er naturligvis også velkommen til at bruge et andet værktøj, eller måske bruge Office-pakken</a:t>
            </a:r>
          </a:p>
          <a:p>
            <a:r>
              <a:rPr lang="da-DK" dirty="0"/>
              <a:t>I sidste ende kan et håndtegnet diagram også bruges, </a:t>
            </a:r>
            <a:r>
              <a:rPr lang="da-DK" b="1" dirty="0">
                <a:solidFill>
                  <a:srgbClr val="FF0000"/>
                </a:solidFill>
              </a:rPr>
              <a:t>hvis det er til at læse!!! </a:t>
            </a:r>
          </a:p>
          <a:p>
            <a:r>
              <a:rPr lang="da-DK" dirty="0"/>
              <a:t>Jeg vil anbefale man bruger et værktøj – det kræver en smule indsats at lære det at kende, men gør det nemmere at ”iterere” et design henover tid.</a:t>
            </a:r>
          </a:p>
        </p:txBody>
      </p:sp>
    </p:spTree>
    <p:extLst>
      <p:ext uri="{BB962C8B-B14F-4D97-AF65-F5344CB8AC3E}">
        <p14:creationId xmlns:p14="http://schemas.microsoft.com/office/powerpoint/2010/main" val="379434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Klassisk Database Design Proces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584267" cy="4351338"/>
          </a:xfrm>
        </p:spPr>
        <p:txBody>
          <a:bodyPr/>
          <a:lstStyle/>
          <a:p>
            <a:r>
              <a:rPr lang="da-DK" dirty="0"/>
              <a:t>Et </a:t>
            </a:r>
            <a:r>
              <a:rPr lang="da-DK" b="1" dirty="0"/>
              <a:t>fysisk ER-diagram</a:t>
            </a:r>
            <a:r>
              <a:rPr lang="da-DK" dirty="0"/>
              <a:t> er således i praksis et </a:t>
            </a:r>
            <a:r>
              <a:rPr lang="da-DK" b="1" dirty="0"/>
              <a:t>database-design diagram</a:t>
            </a:r>
            <a:r>
              <a:rPr lang="da-DK" dirty="0"/>
              <a:t>.</a:t>
            </a:r>
          </a:p>
          <a:p>
            <a:r>
              <a:rPr lang="da-DK" b="1" dirty="0">
                <a:solidFill>
                  <a:srgbClr val="FF0000"/>
                </a:solidFill>
              </a:rPr>
              <a:t>NB</a:t>
            </a:r>
            <a:r>
              <a:rPr lang="da-DK" dirty="0"/>
              <a:t>: dette ændrer ikke på, at I i projektet godt kan udarbejde et database-design ud fra en Objekt-Orienteret domænemodel, som beskrevet i </a:t>
            </a:r>
            <a:r>
              <a:rPr lang="da-DK" b="1" dirty="0"/>
              <a:t>DBDesign</a:t>
            </a:r>
            <a:r>
              <a:rPr lang="da-DK" dirty="0"/>
              <a:t>-præsentationen.</a:t>
            </a:r>
          </a:p>
          <a:p>
            <a:r>
              <a:rPr lang="da-DK" dirty="0"/>
              <a:t>Således kan en Objekt-Orienteret domænemodel bruges til at udarbejde</a:t>
            </a:r>
          </a:p>
          <a:p>
            <a:pPr lvl="1"/>
            <a:r>
              <a:rPr lang="da-DK" dirty="0"/>
              <a:t>Et database-design</a:t>
            </a:r>
          </a:p>
          <a:p>
            <a:pPr lvl="1"/>
            <a:r>
              <a:rPr lang="da-DK" dirty="0"/>
              <a:t>Konkrete domæneklasser (C#)</a:t>
            </a:r>
          </a:p>
        </p:txBody>
      </p:sp>
    </p:spTree>
    <p:extLst>
      <p:ext uri="{BB962C8B-B14F-4D97-AF65-F5344CB8AC3E}">
        <p14:creationId xmlns:p14="http://schemas.microsoft.com/office/powerpoint/2010/main" val="65963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63331499"/>
              </p:ext>
            </p:extLst>
          </p:nvPr>
        </p:nvGraphicFramePr>
        <p:xfrm>
          <a:off x="282146" y="4040296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1">
            <a:extLst>
              <a:ext uri="{FF2B5EF4-FFF2-40B4-BE49-F238E27FC236}">
                <a16:creationId xmlns:a16="http://schemas.microsoft.com/office/drawing/2014/main" id="{C482757D-7625-452F-9C5F-00FEC4AD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Design-proces sammenligning</a:t>
            </a:r>
            <a:endParaRPr lang="da-DK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6748426-18D2-4AD1-981F-AC0F61ED2671}"/>
              </a:ext>
            </a:extLst>
          </p:cNvPr>
          <p:cNvGraphicFramePr/>
          <p:nvPr>
            <p:extLst/>
          </p:nvPr>
        </p:nvGraphicFramePr>
        <p:xfrm>
          <a:off x="282146" y="1853150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7" name="Picture 2" descr="Billedresultat for tick icon">
            <a:extLst>
              <a:ext uri="{FF2B5EF4-FFF2-40B4-BE49-F238E27FC236}">
                <a16:creationId xmlns:a16="http://schemas.microsoft.com/office/drawing/2014/main" id="{713F5DA9-5950-45B6-8DE5-1F7082A95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35" y="5777442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illedresultat for tick icon">
            <a:extLst>
              <a:ext uri="{FF2B5EF4-FFF2-40B4-BE49-F238E27FC236}">
                <a16:creationId xmlns:a16="http://schemas.microsoft.com/office/drawing/2014/main" id="{37022B1D-CD0E-4997-925A-B3D4B6A3C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124" y="5777442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Billedresultat for tick icon">
            <a:extLst>
              <a:ext uri="{FF2B5EF4-FFF2-40B4-BE49-F238E27FC236}">
                <a16:creationId xmlns:a16="http://schemas.microsoft.com/office/drawing/2014/main" id="{EE395E21-3E04-4CF5-8556-8535ABBF7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865" y="5777442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85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: afrundede hjørner 1">
            <a:extLst>
              <a:ext uri="{FF2B5EF4-FFF2-40B4-BE49-F238E27FC236}">
                <a16:creationId xmlns:a16="http://schemas.microsoft.com/office/drawing/2014/main" id="{F5A3DC87-0A92-405A-8C96-E5D8414E78DE}"/>
              </a:ext>
            </a:extLst>
          </p:cNvPr>
          <p:cNvSpPr/>
          <p:nvPr/>
        </p:nvSpPr>
        <p:spPr>
          <a:xfrm>
            <a:off x="499533" y="2311400"/>
            <a:ext cx="3513667" cy="14901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Object-Oriented</a:t>
            </a:r>
          </a:p>
          <a:p>
            <a:pPr algn="ctr"/>
            <a:r>
              <a:rPr lang="da-DK" sz="2800" dirty="0"/>
              <a:t>Domain Model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9BA2ADC9-3F6C-4179-9E70-79CC6CC5EC91}"/>
              </a:ext>
            </a:extLst>
          </p:cNvPr>
          <p:cNvSpPr/>
          <p:nvPr/>
        </p:nvSpPr>
        <p:spPr>
          <a:xfrm>
            <a:off x="6561667" y="821267"/>
            <a:ext cx="3513667" cy="149013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Relational Model </a:t>
            </a:r>
          </a:p>
          <a:p>
            <a:pPr algn="ctr"/>
            <a:r>
              <a:rPr lang="da-DK" sz="2800" dirty="0"/>
              <a:t>(DB-design)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828003CF-3B11-4329-BD91-A7659AFA1EE4}"/>
              </a:ext>
            </a:extLst>
          </p:cNvPr>
          <p:cNvSpPr/>
          <p:nvPr/>
        </p:nvSpPr>
        <p:spPr>
          <a:xfrm>
            <a:off x="6561667" y="3801533"/>
            <a:ext cx="3513667" cy="149013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Class Design (C#)</a:t>
            </a:r>
          </a:p>
        </p:txBody>
      </p:sp>
      <p:sp>
        <p:nvSpPr>
          <p:cNvPr id="3" name="Pil: højre 2">
            <a:extLst>
              <a:ext uri="{FF2B5EF4-FFF2-40B4-BE49-F238E27FC236}">
                <a16:creationId xmlns:a16="http://schemas.microsoft.com/office/drawing/2014/main" id="{CE3B280D-0A00-4F60-BC92-0806003BAF71}"/>
              </a:ext>
            </a:extLst>
          </p:cNvPr>
          <p:cNvSpPr/>
          <p:nvPr/>
        </p:nvSpPr>
        <p:spPr>
          <a:xfrm rot="20136416">
            <a:off x="4273055" y="1828532"/>
            <a:ext cx="2254781" cy="48260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Pil: højre 7">
            <a:extLst>
              <a:ext uri="{FF2B5EF4-FFF2-40B4-BE49-F238E27FC236}">
                <a16:creationId xmlns:a16="http://schemas.microsoft.com/office/drawing/2014/main" id="{1E6C87C3-B855-49EE-A4A5-25223DACC356}"/>
              </a:ext>
            </a:extLst>
          </p:cNvPr>
          <p:cNvSpPr/>
          <p:nvPr/>
        </p:nvSpPr>
        <p:spPr>
          <a:xfrm rot="1522121">
            <a:off x="4298905" y="3835283"/>
            <a:ext cx="2254781" cy="48260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5071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254067" cy="4351338"/>
          </a:xfrm>
        </p:spPr>
        <p:txBody>
          <a:bodyPr/>
          <a:lstStyle/>
          <a:p>
            <a:r>
              <a:rPr lang="da-DK" dirty="0"/>
              <a:t>Husk også, at dette jo kun vedrører modellering af </a:t>
            </a:r>
            <a:r>
              <a:rPr lang="da-DK" b="1" dirty="0"/>
              <a:t>domæne-klasserne</a:t>
            </a:r>
          </a:p>
          <a:p>
            <a:r>
              <a:rPr lang="da-DK" dirty="0"/>
              <a:t>De tilhørende software-klasser (f.eks. Repositories) skal (selvfølgelig) stadig modelleres</a:t>
            </a:r>
          </a:p>
          <a:p>
            <a:r>
              <a:rPr lang="da-DK" dirty="0"/>
              <a:t>Hvordan DB-design og klasse-design realiseres kan afhænge lidt af valg af </a:t>
            </a:r>
            <a:r>
              <a:rPr lang="da-DK" u="sng" dirty="0"/>
              <a:t>værktøj</a:t>
            </a:r>
            <a:r>
              <a:rPr lang="da-DK" dirty="0"/>
              <a:t> til database-tilgang (</a:t>
            </a:r>
            <a:r>
              <a:rPr lang="da-DK" b="1" dirty="0"/>
              <a:t>ADO.Net </a:t>
            </a:r>
            <a:r>
              <a:rPr lang="da-DK" dirty="0"/>
              <a:t>eller </a:t>
            </a:r>
            <a:r>
              <a:rPr lang="da-DK" b="1" dirty="0"/>
              <a:t>Entity Framework Core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0489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 (ADO.Net)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254067" cy="4351338"/>
          </a:xfrm>
        </p:spPr>
        <p:txBody>
          <a:bodyPr/>
          <a:lstStyle/>
          <a:p>
            <a:r>
              <a:rPr lang="da-DK" b="1" dirty="0"/>
              <a:t>ADO.Net </a:t>
            </a:r>
            <a:r>
              <a:rPr lang="da-DK" dirty="0"/>
              <a:t>giver ingen hjælp til at skabe sammenhæng mellem tabeller og klasser (det såkaldte </a:t>
            </a:r>
            <a:r>
              <a:rPr lang="da-DK" b="1" dirty="0"/>
              <a:t>ORM-problem</a:t>
            </a:r>
            <a:r>
              <a:rPr lang="da-DK" dirty="0"/>
              <a:t>)</a:t>
            </a:r>
          </a:p>
          <a:p>
            <a:r>
              <a:rPr lang="da-DK" b="1" dirty="0"/>
              <a:t>ORM</a:t>
            </a:r>
            <a:r>
              <a:rPr lang="da-DK" dirty="0"/>
              <a:t>: Object-Relational Mapping</a:t>
            </a:r>
          </a:p>
          <a:p>
            <a:r>
              <a:rPr lang="da-DK" dirty="0"/>
              <a:t>Man er selv ansvarlig for eksplicit at skrive </a:t>
            </a:r>
            <a:r>
              <a:rPr lang="da-DK" b="1" dirty="0"/>
              <a:t>SQL</a:t>
            </a:r>
            <a:r>
              <a:rPr lang="da-DK" dirty="0"/>
              <a:t> queries mod databasen, samt at konvertere query-resultatet til tilsvarende objekter.</a:t>
            </a:r>
          </a:p>
          <a:p>
            <a:r>
              <a:rPr lang="da-DK" dirty="0"/>
              <a:t>Dette giver omvendt også </a:t>
            </a:r>
            <a:r>
              <a:rPr lang="da-DK" u="sng" dirty="0"/>
              <a:t>handlefrihed</a:t>
            </a:r>
            <a:r>
              <a:rPr lang="da-DK" dirty="0"/>
              <a:t> – man er ikke bundet af en påtvunget sammenhæng mellem tabeller og klasser.</a:t>
            </a:r>
          </a:p>
        </p:txBody>
      </p:sp>
    </p:spTree>
    <p:extLst>
      <p:ext uri="{BB962C8B-B14F-4D97-AF65-F5344CB8AC3E}">
        <p14:creationId xmlns:p14="http://schemas.microsoft.com/office/powerpoint/2010/main" val="3289288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 (ADO.Net)</a:t>
            </a:r>
            <a:endParaRPr lang="da-DK" b="1" dirty="0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6C95E180-272D-43F4-834B-A5BAA1F01AD0}"/>
              </a:ext>
            </a:extLst>
          </p:cNvPr>
          <p:cNvSpPr/>
          <p:nvPr/>
        </p:nvSpPr>
        <p:spPr>
          <a:xfrm>
            <a:off x="1016000" y="3512609"/>
            <a:ext cx="3513667" cy="14901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Object-Oriented</a:t>
            </a:r>
          </a:p>
          <a:p>
            <a:pPr algn="ctr"/>
            <a:r>
              <a:rPr lang="da-DK" sz="2800" dirty="0"/>
              <a:t>Domain Model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764B7DCF-7B2D-4233-9F09-CC8BADA7D4F8}"/>
              </a:ext>
            </a:extLst>
          </p:cNvPr>
          <p:cNvSpPr/>
          <p:nvPr/>
        </p:nvSpPr>
        <p:spPr>
          <a:xfrm>
            <a:off x="7078134" y="2022476"/>
            <a:ext cx="3513667" cy="149013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Relational Model </a:t>
            </a:r>
          </a:p>
          <a:p>
            <a:pPr algn="ctr"/>
            <a:r>
              <a:rPr lang="da-DK" sz="2800" dirty="0"/>
              <a:t>(DB-design)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B4E70971-56AA-4F18-ABDC-9EE3637D56EE}"/>
              </a:ext>
            </a:extLst>
          </p:cNvPr>
          <p:cNvSpPr/>
          <p:nvPr/>
        </p:nvSpPr>
        <p:spPr>
          <a:xfrm>
            <a:off x="7078134" y="5002742"/>
            <a:ext cx="3513667" cy="149013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Class Design (C#)</a:t>
            </a:r>
          </a:p>
        </p:txBody>
      </p:sp>
      <p:sp>
        <p:nvSpPr>
          <p:cNvPr id="9" name="Pil: højre 8">
            <a:extLst>
              <a:ext uri="{FF2B5EF4-FFF2-40B4-BE49-F238E27FC236}">
                <a16:creationId xmlns:a16="http://schemas.microsoft.com/office/drawing/2014/main" id="{D9FD2DE7-DA4C-482E-9ABE-F3A480DC9B3A}"/>
              </a:ext>
            </a:extLst>
          </p:cNvPr>
          <p:cNvSpPr/>
          <p:nvPr/>
        </p:nvSpPr>
        <p:spPr>
          <a:xfrm rot="20136416">
            <a:off x="4789522" y="3029741"/>
            <a:ext cx="2254781" cy="48260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il: højre 9">
            <a:extLst>
              <a:ext uri="{FF2B5EF4-FFF2-40B4-BE49-F238E27FC236}">
                <a16:creationId xmlns:a16="http://schemas.microsoft.com/office/drawing/2014/main" id="{6F741DEA-ACFD-4B3E-8464-0F7C61554DA8}"/>
              </a:ext>
            </a:extLst>
          </p:cNvPr>
          <p:cNvSpPr/>
          <p:nvPr/>
        </p:nvSpPr>
        <p:spPr>
          <a:xfrm rot="1522121">
            <a:off x="4815372" y="5036492"/>
            <a:ext cx="2254781" cy="48260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Pil: opadgående-nedadgående 12">
            <a:extLst>
              <a:ext uri="{FF2B5EF4-FFF2-40B4-BE49-F238E27FC236}">
                <a16:creationId xmlns:a16="http://schemas.microsoft.com/office/drawing/2014/main" id="{F202D904-3318-4C31-BDC8-8C47B447D26C}"/>
              </a:ext>
            </a:extLst>
          </p:cNvPr>
          <p:cNvSpPr/>
          <p:nvPr/>
        </p:nvSpPr>
        <p:spPr>
          <a:xfrm>
            <a:off x="8538933" y="3714750"/>
            <a:ext cx="592067" cy="1085850"/>
          </a:xfrm>
          <a:prstGeom prst="up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6303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 (EF Core)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830733" cy="4351338"/>
          </a:xfrm>
        </p:spPr>
        <p:txBody>
          <a:bodyPr/>
          <a:lstStyle/>
          <a:p>
            <a:r>
              <a:rPr lang="da-DK" b="1" dirty="0"/>
              <a:t>Entity Framework Core (EFCore) </a:t>
            </a:r>
            <a:r>
              <a:rPr lang="da-DK" dirty="0"/>
              <a:t>giver mulighed for </a:t>
            </a:r>
            <a:r>
              <a:rPr lang="da-DK" u="sng" dirty="0"/>
              <a:t>automatisk</a:t>
            </a:r>
            <a:r>
              <a:rPr lang="da-DK" dirty="0"/>
              <a:t> at generere domæne-klasser ud fra database-designet (eller omvendt, men vi vælger her at bruge </a:t>
            </a:r>
            <a:r>
              <a:rPr lang="da-DK" i="1" dirty="0"/>
              <a:t>database-first</a:t>
            </a:r>
            <a:r>
              <a:rPr lang="da-DK" dirty="0"/>
              <a:t> tilgangen)</a:t>
            </a:r>
          </a:p>
          <a:p>
            <a:r>
              <a:rPr lang="da-DK" b="1" dirty="0"/>
              <a:t>EFCore</a:t>
            </a:r>
            <a:r>
              <a:rPr lang="da-DK" dirty="0"/>
              <a:t> kan selv generere passende collections i domæne-klasserne ud fra database-designet, hvis man har været præcis med at specificere </a:t>
            </a:r>
            <a:r>
              <a:rPr lang="da-DK" b="1" dirty="0"/>
              <a:t>primær-</a:t>
            </a:r>
            <a:r>
              <a:rPr lang="da-DK" dirty="0"/>
              <a:t> og </a:t>
            </a:r>
            <a:r>
              <a:rPr lang="da-DK" b="1" dirty="0"/>
              <a:t>fremmednøgler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953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 (EF Core)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288867" cy="4351338"/>
          </a:xfrm>
        </p:spPr>
        <p:txBody>
          <a:bodyPr/>
          <a:lstStyle/>
          <a:p>
            <a:r>
              <a:rPr lang="da-DK" dirty="0"/>
              <a:t>Ydermere genererer </a:t>
            </a:r>
            <a:r>
              <a:rPr lang="da-DK" b="1" dirty="0"/>
              <a:t>EFCore</a:t>
            </a:r>
            <a:r>
              <a:rPr lang="da-DK" dirty="0"/>
              <a:t> et repository-agtigt lag (en såkaldt </a:t>
            </a:r>
            <a:r>
              <a:rPr lang="da-DK" b="1" dirty="0"/>
              <a:t>DBContext-klasse</a:t>
            </a:r>
            <a:r>
              <a:rPr lang="da-DK" dirty="0"/>
              <a:t>), gennem hvilket alle ændringer i data i applikationen (næsten) automatisk gemmes i databasen.</a:t>
            </a:r>
          </a:p>
          <a:p>
            <a:r>
              <a:rPr lang="da-DK" dirty="0"/>
              <a:t>Dermed gør </a:t>
            </a:r>
            <a:r>
              <a:rPr lang="da-DK" b="1" dirty="0"/>
              <a:t>EFCore</a:t>
            </a:r>
            <a:r>
              <a:rPr lang="da-DK" dirty="0"/>
              <a:t> meget af arbejdet for en, både mht. definition og brug af klasser, </a:t>
            </a:r>
            <a:r>
              <a:rPr lang="da-DK" u="sng" dirty="0"/>
              <a:t>men</a:t>
            </a:r>
            <a:r>
              <a:rPr lang="da-DK" dirty="0"/>
              <a:t> man skal så også følge de ”spilleregler” </a:t>
            </a:r>
            <a:r>
              <a:rPr lang="da-DK" b="1" dirty="0"/>
              <a:t>EFCore</a:t>
            </a:r>
            <a:r>
              <a:rPr lang="da-DK" dirty="0"/>
              <a:t> definerer for dette!</a:t>
            </a:r>
          </a:p>
        </p:txBody>
      </p:sp>
    </p:spTree>
    <p:extLst>
      <p:ext uri="{BB962C8B-B14F-4D97-AF65-F5344CB8AC3E}">
        <p14:creationId xmlns:p14="http://schemas.microsoft.com/office/powerpoint/2010/main" val="308174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DB- og klasse-design (EFCore)</a:t>
            </a:r>
            <a:endParaRPr lang="da-DK" b="1" dirty="0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6C95E180-272D-43F4-834B-A5BAA1F01AD0}"/>
              </a:ext>
            </a:extLst>
          </p:cNvPr>
          <p:cNvSpPr/>
          <p:nvPr/>
        </p:nvSpPr>
        <p:spPr>
          <a:xfrm>
            <a:off x="1016000" y="3512609"/>
            <a:ext cx="3513667" cy="14901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Object-Oriented</a:t>
            </a:r>
          </a:p>
          <a:p>
            <a:pPr algn="ctr"/>
            <a:r>
              <a:rPr lang="da-DK" sz="2800" dirty="0"/>
              <a:t>Domain Model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764B7DCF-7B2D-4233-9F09-CC8BADA7D4F8}"/>
              </a:ext>
            </a:extLst>
          </p:cNvPr>
          <p:cNvSpPr/>
          <p:nvPr/>
        </p:nvSpPr>
        <p:spPr>
          <a:xfrm>
            <a:off x="7078134" y="2022476"/>
            <a:ext cx="3513667" cy="149013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Relational Model </a:t>
            </a:r>
          </a:p>
          <a:p>
            <a:pPr algn="ctr"/>
            <a:r>
              <a:rPr lang="da-DK" sz="2800" dirty="0"/>
              <a:t>(DB-design)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B4E70971-56AA-4F18-ABDC-9EE3637D56EE}"/>
              </a:ext>
            </a:extLst>
          </p:cNvPr>
          <p:cNvSpPr/>
          <p:nvPr/>
        </p:nvSpPr>
        <p:spPr>
          <a:xfrm>
            <a:off x="7078134" y="5002742"/>
            <a:ext cx="3513667" cy="149013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Class Design (C#)</a:t>
            </a:r>
          </a:p>
        </p:txBody>
      </p:sp>
      <p:sp>
        <p:nvSpPr>
          <p:cNvPr id="9" name="Pil: højre 8">
            <a:extLst>
              <a:ext uri="{FF2B5EF4-FFF2-40B4-BE49-F238E27FC236}">
                <a16:creationId xmlns:a16="http://schemas.microsoft.com/office/drawing/2014/main" id="{D9FD2DE7-DA4C-482E-9ABE-F3A480DC9B3A}"/>
              </a:ext>
            </a:extLst>
          </p:cNvPr>
          <p:cNvSpPr/>
          <p:nvPr/>
        </p:nvSpPr>
        <p:spPr>
          <a:xfrm rot="20136416">
            <a:off x="4789522" y="3029741"/>
            <a:ext cx="2254781" cy="48260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il: højre 9">
            <a:extLst>
              <a:ext uri="{FF2B5EF4-FFF2-40B4-BE49-F238E27FC236}">
                <a16:creationId xmlns:a16="http://schemas.microsoft.com/office/drawing/2014/main" id="{6F741DEA-ACFD-4B3E-8464-0F7C61554DA8}"/>
              </a:ext>
            </a:extLst>
          </p:cNvPr>
          <p:cNvSpPr/>
          <p:nvPr/>
        </p:nvSpPr>
        <p:spPr>
          <a:xfrm rot="5400000">
            <a:off x="7201860" y="4062717"/>
            <a:ext cx="1178534" cy="48260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Pil: opadgående-nedadgående 12">
            <a:extLst>
              <a:ext uri="{FF2B5EF4-FFF2-40B4-BE49-F238E27FC236}">
                <a16:creationId xmlns:a16="http://schemas.microsoft.com/office/drawing/2014/main" id="{F202D904-3318-4C31-BDC8-8C47B447D26C}"/>
              </a:ext>
            </a:extLst>
          </p:cNvPr>
          <p:cNvSpPr/>
          <p:nvPr/>
        </p:nvSpPr>
        <p:spPr>
          <a:xfrm>
            <a:off x="9385600" y="3714750"/>
            <a:ext cx="592067" cy="1178534"/>
          </a:xfrm>
          <a:prstGeom prst="up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9381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</TotalTime>
  <Words>739</Words>
  <Application>Microsoft Office PowerPoint</Application>
  <PresentationFormat>Widescreen</PresentationFormat>
  <Paragraphs>101</Paragraphs>
  <Slides>20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Office-tema</vt:lpstr>
      <vt:lpstr>Databaser  ER-diagrammer</vt:lpstr>
      <vt:lpstr>Klassisk Database Design Proces</vt:lpstr>
      <vt:lpstr>Klassisk Database Design Proces</vt:lpstr>
      <vt:lpstr>ER-modellering</vt:lpstr>
      <vt:lpstr>PowerPoint-præsentation</vt:lpstr>
      <vt:lpstr>ER-diagrammer</vt:lpstr>
      <vt:lpstr>ER-diagrammer (konceptuelt)</vt:lpstr>
      <vt:lpstr>ER-diagrammer (logisk)</vt:lpstr>
      <vt:lpstr>ER-diagrammer (fysisk)</vt:lpstr>
      <vt:lpstr>Værktøjer til ER-diagrammer</vt:lpstr>
      <vt:lpstr>Værktøjer til ER-diagrammer</vt:lpstr>
      <vt:lpstr>Klassisk Database Design Proces</vt:lpstr>
      <vt:lpstr>Design-proces sammenligning</vt:lpstr>
      <vt:lpstr>PowerPoint-præsentation</vt:lpstr>
      <vt:lpstr>DB- og klasse-design</vt:lpstr>
      <vt:lpstr>DB- og klasse-design (ADO.Net)</vt:lpstr>
      <vt:lpstr>DB- og klasse-design (ADO.Net)</vt:lpstr>
      <vt:lpstr>DB- og klasse-design (EF Core)</vt:lpstr>
      <vt:lpstr>DB- og klasse-design (EF Core)</vt:lpstr>
      <vt:lpstr>DB- og klasse-design (EFCore)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160</cp:revision>
  <dcterms:created xsi:type="dcterms:W3CDTF">2017-09-05T14:00:27Z</dcterms:created>
  <dcterms:modified xsi:type="dcterms:W3CDTF">2026-04-06T15:45:27Z</dcterms:modified>
</cp:coreProperties>
</file>